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c559502cac4745" /><Relationship Type="http://schemas.openxmlformats.org/officeDocument/2006/relationships/extended-properties" Target="/docProps/app.xml" Id="Rdd3be49c29a94898" /><Relationship Type="http://schemas.openxmlformats.org/officeDocument/2006/relationships/officeDocument" Target="/ppt/presentation.xml" Id="Rce23116191884587" /></Relationships>
</file>

<file path=ppt/presentation.xml><?xml version="1.0" encoding="utf-8"?>
<p:presentation xmlns:p="http://schemas.openxmlformats.org/presentationml/2006/main">
  <p:sldMasterIdLst>
    <p:sldMasterId xmlns:r="http://schemas.openxmlformats.org/officeDocument/2006/relationships" id="2147483648" r:id="R6fb85a337c714f77"/>
  </p:sldMasterIdLst>
  <p:notesMasterIdLst>
    <p:notesMasterId xmlns:r="http://schemas.openxmlformats.org/officeDocument/2006/relationships" r:id="Rff8485a2fa4e4b74"/>
  </p:notesMasterIdLst>
  <p:sldIdLst>
    <p:sldId xmlns:r="http://schemas.openxmlformats.org/officeDocument/2006/relationships" id="256" r:id="R0e4b176154db4140"/>
    <p:sldId xmlns:r="http://schemas.openxmlformats.org/officeDocument/2006/relationships" id="257" r:id="R7ee3eeb9f07849b1"/>
    <p:sldId xmlns:r="http://schemas.openxmlformats.org/officeDocument/2006/relationships" id="258" r:id="R1909de51ac5d4dbf"/>
    <p:sldId xmlns:r="http://schemas.openxmlformats.org/officeDocument/2006/relationships" id="259" r:id="R62a1d26352694221"/>
    <p:sldId xmlns:r="http://schemas.openxmlformats.org/officeDocument/2006/relationships" id="260" r:id="R35ee5b79d1e1472d"/>
    <p:sldId xmlns:r="http://schemas.openxmlformats.org/officeDocument/2006/relationships" id="261" r:id="R3271e37599e94c0d"/>
    <p:sldId xmlns:r="http://schemas.openxmlformats.org/officeDocument/2006/relationships" id="262" r:id="R656c6ea545aa420f"/>
    <p:sldId xmlns:r="http://schemas.openxmlformats.org/officeDocument/2006/relationships" id="263" r:id="Rbc16118600cf4fd5"/>
    <p:sldId xmlns:r="http://schemas.openxmlformats.org/officeDocument/2006/relationships" id="264" r:id="R0e28236749334b7f"/>
    <p:sldId xmlns:r="http://schemas.openxmlformats.org/officeDocument/2006/relationships" id="265" r:id="R3640aef8532a4436"/>
    <p:sldId xmlns:r="http://schemas.openxmlformats.org/officeDocument/2006/relationships" id="266" r:id="R3a403c4b2b7f49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da309404714011" /><Relationship Type="http://schemas.openxmlformats.org/officeDocument/2006/relationships/slideMaster" Target="/ppt/slideMasters/slideMaster1.xml" Id="R6fb85a337c714f77" /><Relationship Type="http://schemas.openxmlformats.org/officeDocument/2006/relationships/notesMaster" Target="/ppt/notesMasters/notesMaster1.xml" Id="Rff8485a2fa4e4b74" /><Relationship Type="http://schemas.openxmlformats.org/officeDocument/2006/relationships/presProps" Target="/ppt/presProps.xml" Id="Re8d7783b9e284c24" /><Relationship Type="http://schemas.openxmlformats.org/officeDocument/2006/relationships/tableStyles" Target="/ppt/tableStyles.xml" Id="R75cee01ef35b4693" /><Relationship Type="http://schemas.openxmlformats.org/officeDocument/2006/relationships/slide" Target="/ppt/slides/slide1.xml" Id="R0e4b176154db4140" /><Relationship Type="http://schemas.openxmlformats.org/officeDocument/2006/relationships/slide" Target="/ppt/slides/slide2.xml" Id="R7ee3eeb9f07849b1" /><Relationship Type="http://schemas.openxmlformats.org/officeDocument/2006/relationships/slide" Target="/ppt/slides/slide3.xml" Id="R1909de51ac5d4dbf" /><Relationship Type="http://schemas.openxmlformats.org/officeDocument/2006/relationships/slide" Target="/ppt/slides/slide4.xml" Id="R62a1d26352694221" /><Relationship Type="http://schemas.openxmlformats.org/officeDocument/2006/relationships/slide" Target="/ppt/slides/slide5.xml" Id="R35ee5b79d1e1472d" /><Relationship Type="http://schemas.openxmlformats.org/officeDocument/2006/relationships/slide" Target="/ppt/slides/slide6.xml" Id="R3271e37599e94c0d" /><Relationship Type="http://schemas.openxmlformats.org/officeDocument/2006/relationships/slide" Target="/ppt/slides/slide7.xml" Id="R656c6ea545aa420f" /><Relationship Type="http://schemas.openxmlformats.org/officeDocument/2006/relationships/slide" Target="/ppt/slides/slide8.xml" Id="Rbc16118600cf4fd5" /><Relationship Type="http://schemas.openxmlformats.org/officeDocument/2006/relationships/slide" Target="/ppt/slides/slide9.xml" Id="R0e28236749334b7f" /><Relationship Type="http://schemas.openxmlformats.org/officeDocument/2006/relationships/slide" Target="/ppt/slides/slide10.xml" Id="R3640aef8532a4436" /><Relationship Type="http://schemas.openxmlformats.org/officeDocument/2006/relationships/slide" Target="/ppt/slides/slide11.xml" Id="R3a403c4b2b7f49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0909ceae3c4b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36af315637488c" /><Relationship Type="http://schemas.openxmlformats.org/officeDocument/2006/relationships/notesMaster" Target="/ppt/notesMasters/notesMaster1.xml" Id="Re66e874969c245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480b93f9dd4a3c" /><Relationship Type="http://schemas.openxmlformats.org/officeDocument/2006/relationships/notesMaster" Target="/ppt/notesMasters/notesMaster1.xml" Id="Ree86a00c80f648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edb8f2546a42f2" /><Relationship Type="http://schemas.openxmlformats.org/officeDocument/2006/relationships/notesMaster" Target="/ppt/notesMasters/notesMaster1.xml" Id="Rfde87eb2e34944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5b7e27619945c3" /><Relationship Type="http://schemas.openxmlformats.org/officeDocument/2006/relationships/notesMaster" Target="/ppt/notesMasters/notesMaster1.xml" Id="R7cde3da95e9d42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e126da82034e3f" /><Relationship Type="http://schemas.openxmlformats.org/officeDocument/2006/relationships/notesMaster" Target="/ppt/notesMasters/notesMaster1.xml" Id="Rfabede6df58745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02b47e50e040f0" /><Relationship Type="http://schemas.openxmlformats.org/officeDocument/2006/relationships/notesMaster" Target="/ppt/notesMasters/notesMaster1.xml" Id="Rbf331245f75045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c934b68e604a0e" /><Relationship Type="http://schemas.openxmlformats.org/officeDocument/2006/relationships/notesMaster" Target="/ppt/notesMasters/notesMaster1.xml" Id="Re6c4ee233ce54c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668e95d6894cd3" /><Relationship Type="http://schemas.openxmlformats.org/officeDocument/2006/relationships/notesMaster" Target="/ppt/notesMasters/notesMaster1.xml" Id="R8859581c4ea34e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687496b33044c6" /><Relationship Type="http://schemas.openxmlformats.org/officeDocument/2006/relationships/notesMaster" Target="/ppt/notesMasters/notesMaster1.xml" Id="R157431a179d548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3e67e20e9a41c6" /><Relationship Type="http://schemas.openxmlformats.org/officeDocument/2006/relationships/notesMaster" Target="/ppt/notesMasters/notesMaster1.xml" Id="R722455386d554c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7494cf859bd49de" /><Relationship Type="http://schemas.openxmlformats.org/officeDocument/2006/relationships/notesMaster" Target="/ppt/notesMasters/notesMaster1.xml" Id="R1bdfbcadcc8448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problem: IKS spans many subjects, and beginners need an accessible first point of entry. This is an AI-assisted learning prototype, not a source-verified scholarly archive.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use case with a simple example: What is Padapatha? Be explicit that the model can be wrong; academic claims must be checked against trusted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Follow one question end-to-end. The browser sends message history. FastAPI validates it with Pydantic, keeps bounded recent history, adds the IKS prompt, and calls the selected provider. The route emits structured server-sent events. The backend does not store a server-side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manages changing chat state, FastAPI gives async routes and validation, and SSE is sufficient for one-way answer delivery. The API key stays in the backend. Browser localStorage is not a server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Mention the four endpoints: GET /health, GET /providers, POST /chat and POST /chat/stream. The request has user/assistant messages and an optional provider override. The browser sends the history each time; there is no persistent backend chat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sends a status heartbeat about every 10 seconds while working. Provider first/idle timeout defaults are 60 seconds, the route has a 180-second deadline, and the browser has a 90-second answer-progress timer. These are safeguards, not a guarantee that the provider is fast.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most important technical nuance. The UI can show heartbeats while Gemini works, but first visible answer text arrives after a complete provider response. It improves completeness after premature upstream streaming failures but can increase time to first visible text. Other adapters can stream incrementally.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Health only proves backend reachability, not AI provider availability. No auth, rate limiting or public deployment safeguards are implemented. Prompt injection and hallucinations remain possible. Never show the real .env or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Backend tests use unittest. Frontend SSE parser tests use Node's test runner. A live smoke script can test the provider, but a successful sample answer is not a factual-quality evaluation. Before the presentation, rerun tests if dependencies or provider settings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technical maturity: do not overclaim. The most important academic improvement is retrieval from trusted passages with independently checked citations and expert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demo, start frontend and backend manually and check a valid provider key/quota. They were stopped on user request and are not assumed running. Keep screenshots as backup. If asked what makes this innovative, emphasize response-completion handling and honest error states rather than claiming a new model or verified archive.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b31bc7d0c14ea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626d342a514cfd" /><Relationship Type="http://schemas.openxmlformats.org/officeDocument/2006/relationships/slideLayout" Target="/ppt/slideLayouts/slideLayout1.xml" Id="R785a591dd9c447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5a591dd9c447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2b16f6b3024ac4" /><Relationship Type="http://schemas.openxmlformats.org/officeDocument/2006/relationships/notesSlide" Target="/ppt/notesSlides/notesSlide1.xml" Id="R1bccf1e9b7a34e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31604791a1431b" /><Relationship Type="http://schemas.openxmlformats.org/officeDocument/2006/relationships/notesSlide" Target="/ppt/notesSlides/notesSlide2.xml" Id="Rc0f9562954334c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bae20bd8044515" /><Relationship Type="http://schemas.openxmlformats.org/officeDocument/2006/relationships/notesSlide" Target="/ppt/notesSlides/notesSlide3.xml" Id="R394b7bf1968c47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0e9ca719aca45bf" /><Relationship Type="http://schemas.openxmlformats.org/officeDocument/2006/relationships/notesSlide" Target="/ppt/notesSlides/notesSlide4.xml" Id="R7486a0ccedbb46e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a0efe1f14f4467e" /><Relationship Type="http://schemas.openxmlformats.org/officeDocument/2006/relationships/notesSlide" Target="/ppt/notesSlides/notesSlide5.xml" Id="Rc884f478350443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b46e503a994ebf" /><Relationship Type="http://schemas.openxmlformats.org/officeDocument/2006/relationships/notesSlide" Target="/ppt/notesSlides/notesSlide6.xml" Id="Rd4e48d410a2c45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a03f5a9c6474a48" /><Relationship Type="http://schemas.openxmlformats.org/officeDocument/2006/relationships/notesSlide" Target="/ppt/notesSlides/notesSlide7.xml" Id="Ra9510ec14d5840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bd1a175051042aa" /><Relationship Type="http://schemas.openxmlformats.org/officeDocument/2006/relationships/notesSlide" Target="/ppt/notesSlides/notesSlide8.xml" Id="R6cb2d52d220e4d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432cba3c0b2490b" /><Relationship Type="http://schemas.openxmlformats.org/officeDocument/2006/relationships/notesSlide" Target="/ppt/notesSlides/notesSlide9.xml" Id="Rb7a400fd060d46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88c5bb71bd14ad4" /><Relationship Type="http://schemas.openxmlformats.org/officeDocument/2006/relationships/notesSlide" Target="/ppt/notesSlides/notesSlide10.xml" Id="Rd048fba1c96b44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b3b40a1a374480b" /><Relationship Type="http://schemas.openxmlformats.org/officeDocument/2006/relationships/notesSlide" Target="/ppt/notesSlides/notesSlide11.xml" Id="Rf618d81b95ba49d9" /></Relationships>
</file>

<file path=ppt/slides/slide1.xml><?xml version="1.0" encoding="utf-8"?>
<p:sld xmlns:p="http://schemas.openxmlformats.org/presentationml/2006/main">
  <p:cSld>
    <p:bg>
      <p:bgPr>
        <a:solidFill xmlns:a="http://schemas.openxmlformats.org/drawingml/2006/main">
          <a:srgbClr val="18352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259CA63-1327-4FFD-AE4E-B9EE4ED4FB4A}"/>
              </a:ext>
            </a:extLst>
          </p:cNvPr>
          <p:cNvSpPr>
            <a:spLocks xmlns:a="http://schemas.openxmlformats.org/drawingml/2006/main" noGrp="1"/>
          </p:cNvSpPr>
          <p:nvPr/>
        </p:nvSpPr>
        <p:spPr>
          <a:xfrm xmlns:a="http://schemas.openxmlformats.org/drawingml/2006/main">
            <a:off x="685800" y="619125"/>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7AD62"/>
                </a:solidFill>
                <a:latin typeface="Arial"/>
                <a:ea typeface="Arial"/>
                <a:cs typeface="Arial"/>
              </a:defRPr>
            </a:pPr>
            <a:r>
              <a:rPr sz="1650" b="1">
                <a:solidFill>
                  <a:srgbClr val="D7AD62"/>
                </a:solidFill>
                <a:latin typeface="Arial"/>
                <a:ea typeface="Arial"/>
                <a:cs typeface="Arial"/>
              </a:rPr>
              <a:t>IKS ARCHIVE</a:t>
            </a:r>
          </a:p>
        </p:txBody>
      </p:sp>
      <p:sp>
        <p:nvSpPr>
          <p:cNvPr id="2" name="">
            <a:extLst xmlns:a="http://schemas.openxmlformats.org/drawingml/2006/main">
              <a:ext uri="{FF2B5EF4-FFF2-40B4-BE49-F238E27FC236}">
                <a16:creationId xmlns:a16="http://schemas.microsoft.com/office/drawing/2014/main" id="{6B7B85D0-68A6-460A-AF20-4DE317297316}"/>
              </a:ext>
            </a:extLst>
          </p:cNvPr>
          <p:cNvSpPr>
            <a:spLocks xmlns:a="http://schemas.openxmlformats.org/drawingml/2006/main" noGrp="1"/>
          </p:cNvSpPr>
          <p:nvPr/>
        </p:nvSpPr>
        <p:spPr>
          <a:xfrm xmlns:a="http://schemas.openxmlformats.org/drawingml/2006/main">
            <a:off x="685800" y="13811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An AI-assisted guide to</a:t>
            </a:r>
          </a:p>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Indian Knowledge Systems</a:t>
            </a:r>
          </a:p>
        </p:txBody>
      </p:sp>
      <p:sp>
        <p:nvSpPr>
          <p:cNvPr id="3" name="">
            <a:extLst xmlns:a="http://schemas.openxmlformats.org/drawingml/2006/main">
              <a:ext uri="{FF2B5EF4-FFF2-40B4-BE49-F238E27FC236}">
                <a16:creationId xmlns:a16="http://schemas.microsoft.com/office/drawing/2014/main" id="{B73B9D89-B2A2-4E80-914F-02A022395802}"/>
              </a:ext>
            </a:extLst>
          </p:cNvPr>
          <p:cNvSpPr>
            <a:spLocks xmlns:a="http://schemas.openxmlformats.org/drawingml/2006/main" noGrp="1"/>
          </p:cNvSpPr>
          <p:nvPr/>
        </p:nvSpPr>
        <p:spPr>
          <a:xfrm xmlns:a="http://schemas.openxmlformats.org/drawingml/2006/main">
            <a:off x="714375" y="359092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9E7D9"/>
                </a:solidFill>
                <a:latin typeface="Arial"/>
                <a:ea typeface="Arial"/>
                <a:cs typeface="Arial"/>
              </a:defRPr>
            </a:pPr>
            <a:r>
              <a:rPr sz="1875" b="0">
                <a:solidFill>
                  <a:srgbClr val="D9E7D9"/>
                </a:solidFill>
                <a:latin typeface="Arial"/>
                <a:ea typeface="Arial"/>
                <a:cs typeface="Arial"/>
              </a:rPr>
              <a:t>Project architecture  •  reliability  •  testing  •  limitations</a:t>
            </a:r>
          </a:p>
        </p:txBody>
      </p:sp>
      <p:sp>
        <p:nvSpPr>
          <p:cNvPr id="4" name="">
            <a:extLst xmlns:a="http://schemas.openxmlformats.org/drawingml/2006/main">
              <a:ext uri="{FF2B5EF4-FFF2-40B4-BE49-F238E27FC236}">
                <a16:creationId xmlns:a16="http://schemas.microsoft.com/office/drawing/2014/main" id="{D130A785-1AC0-45BF-8542-194CA3C30C45}"/>
              </a:ext>
            </a:extLst>
          </p:cNvPr>
          <p:cNvSpPr>
            <a:spLocks xmlns:a="http://schemas.openxmlformats.org/drawingml/2006/main" noGrp="1"/>
          </p:cNvSpPr>
          <p:nvPr/>
        </p:nvSpPr>
        <p:spPr>
          <a:xfrm xmlns:a="http://schemas.openxmlformats.org/drawingml/2006/main">
            <a:off x="714375" y="6143625"/>
            <a:ext cx="7620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D7AD62"/>
                </a:solidFill>
                <a:latin typeface="Arial"/>
                <a:ea typeface="Arial"/>
                <a:cs typeface="Arial"/>
              </a:defRPr>
            </a:pPr>
            <a:r>
              <a:rPr sz="1275" b="1">
                <a:solidFill>
                  <a:srgbClr val="D7AD62"/>
                </a:solidFill>
                <a:latin typeface="Arial"/>
                <a:ea typeface="Arial"/>
                <a:cs typeface="Arial"/>
              </a:rPr>
              <a:t>VIVA PRESENTATION</a:t>
            </a:r>
          </a:p>
        </p:txBody>
      </p:sp>
    </p:spTree>
    <p:extLst>
      <p:ext uri="{BB962C8B-B14F-4D97-AF65-F5344CB8AC3E}">
        <p14:creationId xmlns:p14="http://schemas.microsoft.com/office/powerpoint/2010/main" val="795242864"/>
      </p:ext>
    </p:extLst>
  </p:cSld>
</p:sld>
</file>

<file path=ppt/slides/slide2.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94629A-35C4-475A-87BE-BCB653A4905F}"/>
              </a:ext>
            </a:extLst>
          </p:cNvPr>
          <p:cNvSpPr>
            <a:spLocks xmlns:a="http://schemas.openxmlformats.org/drawingml/2006/main" noGrp="1"/>
          </p:cNvSpPr>
          <p:nvPr/>
        </p:nvSpPr>
        <p:spPr>
          <a:xfrm xmlns:a="http://schemas.openxmlformats.org/drawingml/2006/main">
            <a:off x="685800" y="33337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E7963"/>
                </a:solidFill>
                <a:latin typeface="Arial"/>
                <a:ea typeface="Arial"/>
                <a:cs typeface="Arial"/>
              </a:defRPr>
            </a:pPr>
            <a:r>
              <a:rPr sz="1200" b="1">
                <a:solidFill>
                  <a:srgbClr val="3E7963"/>
                </a:solidFill>
                <a:latin typeface="Arial"/>
                <a:ea typeface="Arial"/>
                <a:cs typeface="Arial"/>
              </a:rPr>
              <a:t>01 / PURPOSE</a:t>
            </a:r>
          </a:p>
        </p:txBody>
      </p:sp>
      <p:sp>
        <p:nvSpPr>
          <p:cNvPr id="2" name="">
            <a:extLst xmlns:a="http://schemas.openxmlformats.org/drawingml/2006/main">
              <a:ext uri="{FF2B5EF4-FFF2-40B4-BE49-F238E27FC236}">
                <a16:creationId xmlns:a16="http://schemas.microsoft.com/office/drawing/2014/main" id="{3BA40643-F987-4622-89B2-B26399A4950E}"/>
              </a:ext>
            </a:extLst>
          </p:cNvPr>
          <p:cNvSpPr>
            <a:spLocks xmlns:a="http://schemas.openxmlformats.org/drawingml/2006/main" noGrp="1"/>
          </p:cNvSpPr>
          <p:nvPr/>
        </p:nvSpPr>
        <p:spPr>
          <a:xfrm xmlns:a="http://schemas.openxmlformats.org/drawingml/2006/main">
            <a:off x="685800" y="704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52E"/>
                </a:solidFill>
                <a:latin typeface="Arial"/>
                <a:ea typeface="Arial"/>
                <a:cs typeface="Arial"/>
              </a:defRPr>
            </a:pPr>
            <a:r>
              <a:rPr sz="3300" b="1">
                <a:solidFill>
                  <a:srgbClr val="18352E"/>
                </a:solidFill>
                <a:latin typeface="Arial"/>
                <a:ea typeface="Arial"/>
                <a:cs typeface="Arial"/>
              </a:rPr>
              <a:t>The problem and our objective</a:t>
            </a:r>
          </a:p>
        </p:txBody>
      </p:sp>
      <p:sp>
        <p:nvSpPr>
          <p:cNvPr id="3" name="">
            <a:extLst xmlns:a="http://schemas.openxmlformats.org/drawingml/2006/main">
              <a:ext uri="{FF2B5EF4-FFF2-40B4-BE49-F238E27FC236}">
                <a16:creationId xmlns:a16="http://schemas.microsoft.com/office/drawing/2014/main" id="{63AD8E3D-85E3-4A21-9970-7A5FD5523099}"/>
              </a:ext>
            </a:extLst>
          </p:cNvPr>
          <p:cNvSpPr>
            <a:spLocks xmlns:a="http://schemas.openxmlformats.org/drawingml/2006/main" noGrp="1"/>
          </p:cNvSpPr>
          <p:nvPr/>
        </p:nvSpPr>
        <p:spPr>
          <a:xfrm xmlns:a="http://schemas.openxmlformats.org/drawingml/2006/main">
            <a:off x="685800" y="63627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77168"/>
                </a:solidFill>
                <a:latin typeface="Arial"/>
                <a:ea typeface="Arial"/>
                <a:cs typeface="Arial"/>
              </a:defRPr>
            </a:pPr>
            <a:r>
              <a:rPr sz="1050" b="0">
                <a:solidFill>
                  <a:srgbClr val="577168"/>
                </a:solidFill>
                <a:latin typeface="Arial"/>
                <a:ea typeface="Arial"/>
                <a:cs typeface="Arial"/>
              </a:rPr>
              <a:t>IKS ARCHIVE  •  02</a:t>
            </a:r>
          </a:p>
        </p:txBody>
      </p:sp>
      <p:sp>
        <p:nvSpPr>
          <p:cNvPr id="4" name="">
            <a:extLst xmlns:a="http://schemas.openxmlformats.org/drawingml/2006/main">
              <a:ext uri="{FF2B5EF4-FFF2-40B4-BE49-F238E27FC236}">
                <a16:creationId xmlns:a16="http://schemas.microsoft.com/office/drawing/2014/main" id="{6B60AB92-2BF3-460B-8263-7EF226FB8B90}"/>
              </a:ext>
            </a:extLst>
          </p:cNvPr>
          <p:cNvSpPr>
            <a:spLocks xmlns:a="http://schemas.openxmlformats.org/drawingml/2006/main" noGrp="1"/>
          </p:cNvSpPr>
          <p:nvPr/>
        </p:nvSpPr>
        <p:spPr>
          <a:xfrm xmlns:a="http://schemas.openxmlformats.org/drawingml/2006/main">
            <a:off x="704850" y="1952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3E7963"/>
                </a:solidFill>
                <a:latin typeface="Arial"/>
                <a:ea typeface="Arial"/>
                <a:cs typeface="Arial"/>
              </a:defRPr>
            </a:pPr>
            <a:r>
              <a:rPr sz="1425" b="1">
                <a:solidFill>
                  <a:srgbClr val="3E7963"/>
                </a:solidFill>
                <a:latin typeface="Arial"/>
                <a:ea typeface="Arial"/>
                <a:cs typeface="Arial"/>
              </a:rPr>
              <a:t>PROBLEM</a:t>
            </a:r>
          </a:p>
        </p:txBody>
      </p:sp>
      <p:sp>
        <p:nvSpPr>
          <p:cNvPr id="5" name="">
            <a:extLst xmlns:a="http://schemas.openxmlformats.org/drawingml/2006/main">
              <a:ext uri="{FF2B5EF4-FFF2-40B4-BE49-F238E27FC236}">
                <a16:creationId xmlns:a16="http://schemas.microsoft.com/office/drawing/2014/main" id="{C3BAB307-ED01-4E91-AF99-BD539C6C2341}"/>
              </a:ext>
            </a:extLst>
          </p:cNvPr>
          <p:cNvSpPr>
            <a:spLocks xmlns:a="http://schemas.openxmlformats.org/drawingml/2006/main" noGrp="1"/>
          </p:cNvSpPr>
          <p:nvPr/>
        </p:nvSpPr>
        <p:spPr>
          <a:xfrm xmlns:a="http://schemas.openxmlformats.org/drawingml/2006/main">
            <a:off x="704850" y="2400300"/>
            <a:ext cx="4810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52E"/>
                </a:solidFill>
                <a:latin typeface="Arial"/>
                <a:ea typeface="Arial"/>
                <a:cs typeface="Arial"/>
              </a:defRPr>
            </a:pPr>
            <a:r>
              <a:rPr sz="2100" b="0">
                <a:solidFill>
                  <a:srgbClr val="18352E"/>
                </a:solidFill>
                <a:latin typeface="Arial"/>
                <a:ea typeface="Arial"/>
                <a:cs typeface="Arial"/>
              </a:rPr>
              <a:t>IKS topics and terminology are spread across philosophy, language, mathematics, medicine, and the arts.</a:t>
            </a:r>
          </a:p>
        </p:txBody>
      </p:sp>
      <p:sp>
        <p:nvSpPr>
          <p:cNvPr id="6" name="">
            <a:extLst xmlns:a="http://schemas.openxmlformats.org/drawingml/2006/main">
              <a:ext uri="{FF2B5EF4-FFF2-40B4-BE49-F238E27FC236}">
                <a16:creationId xmlns:a16="http://schemas.microsoft.com/office/drawing/2014/main" id="{40190964-DF27-4E29-9AAE-920E502CB063}"/>
              </a:ext>
            </a:extLst>
          </p:cNvPr>
          <p:cNvSpPr>
            <a:spLocks xmlns:a="http://schemas.openxmlformats.org/drawingml/2006/main" noGrp="1"/>
          </p:cNvSpPr>
          <p:nvPr/>
        </p:nvSpPr>
        <p:spPr>
          <a:xfrm xmlns:a="http://schemas.openxmlformats.org/drawingml/2006/main">
            <a:off x="6457950" y="1952625"/>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3E7963"/>
                </a:solidFill>
                <a:latin typeface="Arial"/>
                <a:ea typeface="Arial"/>
                <a:cs typeface="Arial"/>
              </a:defRPr>
            </a:pPr>
            <a:r>
              <a:rPr sz="1425" b="1">
                <a:solidFill>
                  <a:srgbClr val="3E7963"/>
                </a:solidFill>
                <a:latin typeface="Arial"/>
                <a:ea typeface="Arial"/>
                <a:cs typeface="Arial"/>
              </a:rPr>
              <a:t>OBJECTIVE</a:t>
            </a:r>
          </a:p>
        </p:txBody>
      </p:sp>
      <p:sp>
        <p:nvSpPr>
          <p:cNvPr id="7" name="">
            <a:extLst xmlns:a="http://schemas.openxmlformats.org/drawingml/2006/main">
              <a:ext uri="{FF2B5EF4-FFF2-40B4-BE49-F238E27FC236}">
                <a16:creationId xmlns:a16="http://schemas.microsoft.com/office/drawing/2014/main" id="{1965EF5E-5C5A-42CF-8523-DE0FAF67DEAB}"/>
              </a:ext>
            </a:extLst>
          </p:cNvPr>
          <p:cNvSpPr>
            <a:spLocks xmlns:a="http://schemas.openxmlformats.org/drawingml/2006/main" noGrp="1"/>
          </p:cNvSpPr>
          <p:nvPr/>
        </p:nvSpPr>
        <p:spPr>
          <a:xfrm xmlns:a="http://schemas.openxmlformats.org/drawingml/2006/main">
            <a:off x="6457950" y="2400300"/>
            <a:ext cx="4810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52E"/>
                </a:solidFill>
                <a:latin typeface="Arial"/>
                <a:ea typeface="Arial"/>
                <a:cs typeface="Arial"/>
              </a:defRPr>
            </a:pPr>
            <a:r>
              <a:rPr sz="2100" b="0">
                <a:solidFill>
                  <a:srgbClr val="18352E"/>
                </a:solidFill>
                <a:latin typeface="Arial"/>
                <a:ea typeface="Arial"/>
                <a:cs typeface="Arial"/>
              </a:rPr>
              <a:t>Let a learner ask a natural-language question and receive an understandable, contextual starting answer.</a:t>
            </a:r>
          </a:p>
        </p:txBody>
      </p:sp>
      <p:sp>
        <p:nvSpPr>
          <p:cNvPr id="8" name="">
            <a:extLst xmlns:a="http://schemas.openxmlformats.org/drawingml/2006/main">
              <a:ext uri="{FF2B5EF4-FFF2-40B4-BE49-F238E27FC236}">
                <a16:creationId xmlns:a16="http://schemas.microsoft.com/office/drawing/2014/main" id="{EC37A5CF-F27D-4C26-8689-F41ABDB75FD7}"/>
              </a:ext>
            </a:extLst>
          </p:cNvPr>
          <p:cNvSpPr>
            <a:spLocks xmlns:a="http://schemas.openxmlformats.org/drawingml/2006/main" noGrp="1"/>
          </p:cNvSpPr>
          <p:nvPr/>
        </p:nvSpPr>
        <p:spPr>
          <a:xfrm xmlns:a="http://schemas.openxmlformats.org/drawingml/2006/main">
            <a:off x="704850" y="527685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577168"/>
                </a:solidFill>
                <a:latin typeface="Arial"/>
                <a:ea typeface="Arial"/>
                <a:cs typeface="Arial"/>
              </a:defRPr>
            </a:pPr>
            <a:r>
              <a:rPr sz="1800" b="1">
                <a:solidFill>
                  <a:srgbClr val="577168"/>
                </a:solidFill>
                <a:latin typeface="Arial"/>
                <a:ea typeface="Arial"/>
                <a:cs typeface="Arial"/>
              </a:rPr>
              <a:t>Scope: exploration and explanation — not authenticated research or verified citations.</a:t>
            </a:r>
          </a:p>
        </p:txBody>
      </p:sp>
    </p:spTree>
    <p:extLst>
      <p:ext uri="{BB962C8B-B14F-4D97-AF65-F5344CB8AC3E}">
        <p14:creationId xmlns:p14="http://schemas.microsoft.com/office/powerpoint/2010/main" val="1957800480"/>
      </p:ext>
    </p:extLst>
  </p:cSld>
</p:sld>
</file>

<file path=ppt/slides/slide3.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D8B2784-9CC6-46DC-97C1-C4C090654960}"/>
              </a:ext>
            </a:extLst>
          </p:cNvPr>
          <p:cNvSpPr>
            <a:spLocks xmlns:a="http://schemas.openxmlformats.org/drawingml/2006/main" noGrp="1"/>
          </p:cNvSpPr>
          <p:nvPr/>
        </p:nvSpPr>
        <p:spPr>
          <a:xfrm xmlns:a="http://schemas.openxmlformats.org/drawingml/2006/main">
            <a:off x="685800" y="33337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E7963"/>
                </a:solidFill>
                <a:latin typeface="Arial"/>
                <a:ea typeface="Arial"/>
                <a:cs typeface="Arial"/>
              </a:defRPr>
            </a:pPr>
            <a:r>
              <a:rPr sz="1200" b="1">
                <a:solidFill>
                  <a:srgbClr val="3E7963"/>
                </a:solidFill>
                <a:latin typeface="Arial"/>
                <a:ea typeface="Arial"/>
                <a:cs typeface="Arial"/>
              </a:rPr>
              <a:t>02 / SYSTEM</a:t>
            </a:r>
          </a:p>
        </p:txBody>
      </p:sp>
      <p:sp>
        <p:nvSpPr>
          <p:cNvPr id="2" name="">
            <a:extLst xmlns:a="http://schemas.openxmlformats.org/drawingml/2006/main">
              <a:ext uri="{FF2B5EF4-FFF2-40B4-BE49-F238E27FC236}">
                <a16:creationId xmlns:a16="http://schemas.microsoft.com/office/drawing/2014/main" id="{1CE84BCA-A396-4C19-87F5-41091B5C2F8A}"/>
              </a:ext>
            </a:extLst>
          </p:cNvPr>
          <p:cNvSpPr>
            <a:spLocks xmlns:a="http://schemas.openxmlformats.org/drawingml/2006/main" noGrp="1"/>
          </p:cNvSpPr>
          <p:nvPr/>
        </p:nvSpPr>
        <p:spPr>
          <a:xfrm xmlns:a="http://schemas.openxmlformats.org/drawingml/2006/main">
            <a:off x="685800" y="704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52E"/>
                </a:solidFill>
                <a:latin typeface="Arial"/>
                <a:ea typeface="Arial"/>
                <a:cs typeface="Arial"/>
              </a:defRPr>
            </a:pPr>
            <a:r>
              <a:rPr sz="3300" b="1">
                <a:solidFill>
                  <a:srgbClr val="18352E"/>
                </a:solidFill>
                <a:latin typeface="Arial"/>
                <a:ea typeface="Arial"/>
                <a:cs typeface="Arial"/>
              </a:rPr>
              <a:t>Architecture at a glance</a:t>
            </a:r>
          </a:p>
        </p:txBody>
      </p:sp>
      <p:sp>
        <p:nvSpPr>
          <p:cNvPr id="3" name="">
            <a:extLst xmlns:a="http://schemas.openxmlformats.org/drawingml/2006/main">
              <a:ext uri="{FF2B5EF4-FFF2-40B4-BE49-F238E27FC236}">
                <a16:creationId xmlns:a16="http://schemas.microsoft.com/office/drawing/2014/main" id="{0D865E2B-ABEF-4CDC-8D16-91361FEEC58C}"/>
              </a:ext>
            </a:extLst>
          </p:cNvPr>
          <p:cNvSpPr>
            <a:spLocks xmlns:a="http://schemas.openxmlformats.org/drawingml/2006/main" noGrp="1"/>
          </p:cNvSpPr>
          <p:nvPr/>
        </p:nvSpPr>
        <p:spPr>
          <a:xfrm xmlns:a="http://schemas.openxmlformats.org/drawingml/2006/main">
            <a:off x="685800" y="63627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77168"/>
                </a:solidFill>
                <a:latin typeface="Arial"/>
                <a:ea typeface="Arial"/>
                <a:cs typeface="Arial"/>
              </a:defRPr>
            </a:pPr>
            <a:r>
              <a:rPr sz="1050" b="0">
                <a:solidFill>
                  <a:srgbClr val="577168"/>
                </a:solidFill>
                <a:latin typeface="Arial"/>
                <a:ea typeface="Arial"/>
                <a:cs typeface="Arial"/>
              </a:rPr>
              <a:t>IKS ARCHIVE  •  03</a:t>
            </a:r>
          </a:p>
        </p:txBody>
      </p:sp>
      <p:sp>
        <p:nvSpPr>
          <p:cNvPr id="4" name="">
            <a:extLst xmlns:a="http://schemas.openxmlformats.org/drawingml/2006/main">
              <a:ext uri="{FF2B5EF4-FFF2-40B4-BE49-F238E27FC236}">
                <a16:creationId xmlns:a16="http://schemas.microsoft.com/office/drawing/2014/main" id="{5423F877-AB13-4B92-AC0F-81309EAADFD0}"/>
              </a:ext>
            </a:extLst>
          </p:cNvPr>
          <p:cNvSpPr>
            <a:spLocks xmlns:a="http://schemas.openxmlformats.org/drawingml/2006/main" noGrp="1"/>
          </p:cNvSpPr>
          <p:nvPr/>
        </p:nvSpPr>
        <p:spPr>
          <a:xfrm xmlns:a="http://schemas.openxmlformats.org/drawingml/2006/main">
            <a:off x="723900" y="2066925"/>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E7963"/>
                </a:solidFill>
                <a:latin typeface="Arial"/>
                <a:ea typeface="Arial"/>
                <a:cs typeface="Arial"/>
              </a:defRPr>
            </a:pPr>
            <a:r>
              <a:rPr sz="1875" b="1">
                <a:solidFill>
                  <a:srgbClr val="3E7963"/>
                </a:solidFill>
                <a:latin typeface="Arial"/>
                <a:ea typeface="Arial"/>
                <a:cs typeface="Arial"/>
              </a:rPr>
              <a:t>REACT UI</a:t>
            </a:r>
          </a:p>
        </p:txBody>
      </p:sp>
      <p:sp>
        <p:nvSpPr>
          <p:cNvPr id="5" name="">
            <a:extLst xmlns:a="http://schemas.openxmlformats.org/drawingml/2006/main">
              <a:ext uri="{FF2B5EF4-FFF2-40B4-BE49-F238E27FC236}">
                <a16:creationId xmlns:a16="http://schemas.microsoft.com/office/drawing/2014/main" id="{C8A5AE7A-3CED-4C77-8C05-E1734276B4EF}"/>
              </a:ext>
            </a:extLst>
          </p:cNvPr>
          <p:cNvSpPr>
            <a:spLocks xmlns:a="http://schemas.openxmlformats.org/drawingml/2006/main" noGrp="1"/>
          </p:cNvSpPr>
          <p:nvPr/>
        </p:nvSpPr>
        <p:spPr>
          <a:xfrm xmlns:a="http://schemas.openxmlformats.org/drawingml/2006/main">
            <a:off x="723900" y="2581275"/>
            <a:ext cx="2143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52E"/>
                </a:solidFill>
                <a:latin typeface="Arial"/>
                <a:ea typeface="Arial"/>
                <a:cs typeface="Arial"/>
              </a:defRPr>
            </a:pPr>
            <a:r>
              <a:rPr sz="1800" b="0">
                <a:solidFill>
                  <a:srgbClr val="18352E"/>
                </a:solidFill>
                <a:latin typeface="Arial"/>
                <a:ea typeface="Arial"/>
                <a:cs typeface="Arial"/>
              </a:rPr>
              <a:t>Question, messages,</a:t>
            </a:r>
          </a:p>
          <a:p xmlns:a="http://schemas.openxmlformats.org/drawingml/2006/main">
            <a:pPr>
              <a:defRPr sz="1800" b="0">
                <a:solidFill>
                  <a:srgbClr val="18352E"/>
                </a:solidFill>
                <a:latin typeface="Arial"/>
                <a:ea typeface="Arial"/>
                <a:cs typeface="Arial"/>
              </a:defRPr>
            </a:pPr>
            <a:r>
              <a:rPr sz="1800" b="0">
                <a:solidFill>
                  <a:srgbClr val="18352E"/>
                </a:solidFill>
                <a:latin typeface="Arial"/>
                <a:ea typeface="Arial"/>
                <a:cs typeface="Arial"/>
              </a:rPr>
              <a:t>retry and cancel</a:t>
            </a:r>
          </a:p>
        </p:txBody>
      </p:sp>
      <p:sp>
        <p:nvSpPr>
          <p:cNvPr id="6" name="">
            <a:extLst xmlns:a="http://schemas.openxmlformats.org/drawingml/2006/main">
              <a:ext uri="{FF2B5EF4-FFF2-40B4-BE49-F238E27FC236}">
                <a16:creationId xmlns:a16="http://schemas.microsoft.com/office/drawing/2014/main" id="{AD689A46-264A-4F0D-9155-797AB3F601BA}"/>
              </a:ext>
            </a:extLst>
          </p:cNvPr>
          <p:cNvSpPr>
            <a:spLocks xmlns:a="http://schemas.openxmlformats.org/drawingml/2006/main" noGrp="1"/>
          </p:cNvSpPr>
          <p:nvPr/>
        </p:nvSpPr>
        <p:spPr>
          <a:xfrm xmlns:a="http://schemas.openxmlformats.org/drawingml/2006/main">
            <a:off x="3562350" y="2066925"/>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E7963"/>
                </a:solidFill>
                <a:latin typeface="Arial"/>
                <a:ea typeface="Arial"/>
                <a:cs typeface="Arial"/>
              </a:defRPr>
            </a:pPr>
            <a:r>
              <a:rPr sz="1875" b="1">
                <a:solidFill>
                  <a:srgbClr val="3E7963"/>
                </a:solidFill>
                <a:latin typeface="Arial"/>
                <a:ea typeface="Arial"/>
                <a:cs typeface="Arial"/>
              </a:rPr>
              <a:t>FASTAPI</a:t>
            </a:r>
          </a:p>
        </p:txBody>
      </p:sp>
      <p:sp>
        <p:nvSpPr>
          <p:cNvPr id="7" name="">
            <a:extLst xmlns:a="http://schemas.openxmlformats.org/drawingml/2006/main">
              <a:ext uri="{FF2B5EF4-FFF2-40B4-BE49-F238E27FC236}">
                <a16:creationId xmlns:a16="http://schemas.microsoft.com/office/drawing/2014/main" id="{462A5B73-DA19-44BE-B3EB-05ADDDC96A90}"/>
              </a:ext>
            </a:extLst>
          </p:cNvPr>
          <p:cNvSpPr>
            <a:spLocks xmlns:a="http://schemas.openxmlformats.org/drawingml/2006/main" noGrp="1"/>
          </p:cNvSpPr>
          <p:nvPr/>
        </p:nvSpPr>
        <p:spPr>
          <a:xfrm xmlns:a="http://schemas.openxmlformats.org/drawingml/2006/main">
            <a:off x="3562350" y="2581275"/>
            <a:ext cx="2333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52E"/>
                </a:solidFill>
                <a:latin typeface="Arial"/>
                <a:ea typeface="Arial"/>
                <a:cs typeface="Arial"/>
              </a:defRPr>
            </a:pPr>
            <a:r>
              <a:rPr sz="1800" b="0">
                <a:solidFill>
                  <a:srgbClr val="18352E"/>
                </a:solidFill>
                <a:latin typeface="Arial"/>
                <a:ea typeface="Arial"/>
                <a:cs typeface="Arial"/>
              </a:rPr>
              <a:t>Validate request,</a:t>
            </a:r>
          </a:p>
          <a:p xmlns:a="http://schemas.openxmlformats.org/drawingml/2006/main">
            <a:pPr>
              <a:defRPr sz="1800" b="0">
                <a:solidFill>
                  <a:srgbClr val="18352E"/>
                </a:solidFill>
                <a:latin typeface="Arial"/>
                <a:ea typeface="Arial"/>
                <a:cs typeface="Arial"/>
              </a:defRPr>
            </a:pPr>
            <a:r>
              <a:rPr sz="1800" b="0">
                <a:solidFill>
                  <a:srgbClr val="18352E"/>
                </a:solidFill>
                <a:latin typeface="Arial"/>
                <a:ea typeface="Arial"/>
                <a:cs typeface="Arial"/>
              </a:rPr>
              <a:t>select provider,</a:t>
            </a:r>
          </a:p>
          <a:p xmlns:a="http://schemas.openxmlformats.org/drawingml/2006/main">
            <a:pPr>
              <a:defRPr sz="1800" b="0">
                <a:solidFill>
                  <a:srgbClr val="18352E"/>
                </a:solidFill>
                <a:latin typeface="Arial"/>
                <a:ea typeface="Arial"/>
                <a:cs typeface="Arial"/>
              </a:defRPr>
            </a:pPr>
            <a:r>
              <a:rPr sz="1800" b="0">
                <a:solidFill>
                  <a:srgbClr val="18352E"/>
                </a:solidFill>
                <a:latin typeface="Arial"/>
                <a:ea typeface="Arial"/>
                <a:cs typeface="Arial"/>
              </a:rPr>
              <a:t>apply timeouts</a:t>
            </a:r>
          </a:p>
        </p:txBody>
      </p:sp>
      <p:sp>
        <p:nvSpPr>
          <p:cNvPr id="8" name="">
            <a:extLst xmlns:a="http://schemas.openxmlformats.org/drawingml/2006/main">
              <a:ext uri="{FF2B5EF4-FFF2-40B4-BE49-F238E27FC236}">
                <a16:creationId xmlns:a16="http://schemas.microsoft.com/office/drawing/2014/main" id="{1692895B-BE37-4FDA-9AF0-66814CE44988}"/>
              </a:ext>
            </a:extLst>
          </p:cNvPr>
          <p:cNvSpPr>
            <a:spLocks xmlns:a="http://schemas.openxmlformats.org/drawingml/2006/main" noGrp="1"/>
          </p:cNvSpPr>
          <p:nvPr/>
        </p:nvSpPr>
        <p:spPr>
          <a:xfrm xmlns:a="http://schemas.openxmlformats.org/drawingml/2006/main">
            <a:off x="6705600" y="2066925"/>
            <a:ext cx="242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E7963"/>
                </a:solidFill>
                <a:latin typeface="Arial"/>
                <a:ea typeface="Arial"/>
                <a:cs typeface="Arial"/>
              </a:defRPr>
            </a:pPr>
            <a:r>
              <a:rPr sz="1875" b="1">
                <a:solidFill>
                  <a:srgbClr val="3E7963"/>
                </a:solidFill>
                <a:latin typeface="Arial"/>
                <a:ea typeface="Arial"/>
                <a:cs typeface="Arial"/>
              </a:rPr>
              <a:t>AI PROVIDER</a:t>
            </a:r>
          </a:p>
        </p:txBody>
      </p:sp>
      <p:sp>
        <p:nvSpPr>
          <p:cNvPr id="9" name="">
            <a:extLst xmlns:a="http://schemas.openxmlformats.org/drawingml/2006/main">
              <a:ext uri="{FF2B5EF4-FFF2-40B4-BE49-F238E27FC236}">
                <a16:creationId xmlns:a16="http://schemas.microsoft.com/office/drawing/2014/main" id="{E00A444C-D597-4A7B-8D1B-C1314EA389B1}"/>
              </a:ext>
            </a:extLst>
          </p:cNvPr>
          <p:cNvSpPr>
            <a:spLocks xmlns:a="http://schemas.openxmlformats.org/drawingml/2006/main" noGrp="1"/>
          </p:cNvSpPr>
          <p:nvPr/>
        </p:nvSpPr>
        <p:spPr>
          <a:xfrm xmlns:a="http://schemas.openxmlformats.org/drawingml/2006/main">
            <a:off x="6705600" y="2581275"/>
            <a:ext cx="3429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52E"/>
                </a:solidFill>
                <a:latin typeface="Arial"/>
                <a:ea typeface="Arial"/>
                <a:cs typeface="Arial"/>
              </a:defRPr>
            </a:pPr>
            <a:r>
              <a:rPr sz="1800" b="0">
                <a:solidFill>
                  <a:srgbClr val="18352E"/>
                </a:solidFill>
                <a:latin typeface="Arial"/>
                <a:ea typeface="Arial"/>
                <a:cs typeface="Arial"/>
              </a:rPr>
              <a:t>Current path: Gemini</a:t>
            </a:r>
          </a:p>
          <a:p xmlns:a="http://schemas.openxmlformats.org/drawingml/2006/main">
            <a:pPr>
              <a:defRPr sz="1800" b="0">
                <a:solidFill>
                  <a:srgbClr val="18352E"/>
                </a:solidFill>
                <a:latin typeface="Arial"/>
                <a:ea typeface="Arial"/>
                <a:cs typeface="Arial"/>
              </a:defRPr>
            </a:pPr>
            <a:r>
              <a:rPr sz="1800" b="0">
                <a:solidFill>
                  <a:srgbClr val="18352E"/>
                </a:solidFill>
                <a:latin typeface="Arial"/>
                <a:ea typeface="Arial"/>
                <a:cs typeface="Arial"/>
              </a:rPr>
              <a:t>Other adapters:</a:t>
            </a:r>
          </a:p>
          <a:p xmlns:a="http://schemas.openxmlformats.org/drawingml/2006/main">
            <a:pPr>
              <a:defRPr sz="1800" b="0">
                <a:solidFill>
                  <a:srgbClr val="18352E"/>
                </a:solidFill>
                <a:latin typeface="Arial"/>
                <a:ea typeface="Arial"/>
                <a:cs typeface="Arial"/>
              </a:defRPr>
            </a:pPr>
            <a:r>
              <a:rPr sz="1800" b="0">
                <a:solidFill>
                  <a:srgbClr val="18352E"/>
                </a:solidFill>
                <a:latin typeface="Arial"/>
                <a:ea typeface="Arial"/>
                <a:cs typeface="Arial"/>
              </a:rPr>
              <a:t>OpenAI, Anthropic, Ollama</a:t>
            </a:r>
          </a:p>
        </p:txBody>
      </p:sp>
      <p:sp>
        <p:nvSpPr>
          <p:cNvPr id="10" name="">
            <a:extLst xmlns:a="http://schemas.openxmlformats.org/drawingml/2006/main">
              <a:ext uri="{FF2B5EF4-FFF2-40B4-BE49-F238E27FC236}">
                <a16:creationId xmlns:a16="http://schemas.microsoft.com/office/drawing/2014/main" id="{57B4E13A-F9C9-48E9-A16A-F6FD531A1C76}"/>
              </a:ext>
            </a:extLst>
          </p:cNvPr>
          <p:cNvSpPr>
            <a:spLocks xmlns:a="http://schemas.openxmlformats.org/drawingml/2006/main" noGrp="1"/>
          </p:cNvSpPr>
          <p:nvPr/>
        </p:nvSpPr>
        <p:spPr>
          <a:xfrm xmlns:a="http://schemas.openxmlformats.org/drawingml/2006/main">
            <a:off x="723900" y="4686300"/>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352E"/>
                </a:solidFill>
                <a:latin typeface="Arial"/>
                <a:ea typeface="Arial"/>
                <a:cs typeface="Arial"/>
              </a:defRPr>
            </a:pPr>
            <a:r>
              <a:rPr sz="1875" b="1">
                <a:solidFill>
                  <a:srgbClr val="18352E"/>
                </a:solidFill>
                <a:latin typeface="Arial"/>
                <a:ea typeface="Arial"/>
                <a:cs typeface="Arial"/>
              </a:rPr>
              <a:t>POST /api/v1/chat/stream</a:t>
            </a:r>
          </a:p>
        </p:txBody>
      </p:sp>
      <p:sp>
        <p:nvSpPr>
          <p:cNvPr id="11" name="">
            <a:extLst xmlns:a="http://schemas.openxmlformats.org/drawingml/2006/main">
              <a:ext uri="{FF2B5EF4-FFF2-40B4-BE49-F238E27FC236}">
                <a16:creationId xmlns:a16="http://schemas.microsoft.com/office/drawing/2014/main" id="{B8C334DF-0973-485E-B35D-C3CD23A54F66}"/>
              </a:ext>
            </a:extLst>
          </p:cNvPr>
          <p:cNvSpPr>
            <a:spLocks xmlns:a="http://schemas.openxmlformats.org/drawingml/2006/main" noGrp="1"/>
          </p:cNvSpPr>
          <p:nvPr/>
        </p:nvSpPr>
        <p:spPr>
          <a:xfrm xmlns:a="http://schemas.openxmlformats.org/drawingml/2006/main">
            <a:off x="723900" y="5238750"/>
            <a:ext cx="990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77168"/>
                </a:solidFill>
                <a:latin typeface="Arial"/>
                <a:ea typeface="Arial"/>
                <a:cs typeface="Arial"/>
              </a:defRPr>
            </a:pPr>
            <a:r>
              <a:rPr sz="1950" b="0">
                <a:solidFill>
                  <a:srgbClr val="577168"/>
                </a:solidFill>
                <a:latin typeface="Arial"/>
                <a:ea typeface="Arial"/>
                <a:cs typeface="Arial"/>
              </a:rPr>
              <a:t>SSE events: meta  →  status  →  delta  →  done / error</a:t>
            </a:r>
          </a:p>
        </p:txBody>
      </p:sp>
    </p:spTree>
    <p:extLst>
      <p:ext uri="{BB962C8B-B14F-4D97-AF65-F5344CB8AC3E}">
        <p14:creationId xmlns:p14="http://schemas.microsoft.com/office/powerpoint/2010/main" val="778166763"/>
      </p:ext>
    </p:extLst>
  </p:cSld>
</p:sld>
</file>

<file path=ppt/slides/slide4.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EEAD41-BAD3-472C-AE4B-A65EA1EAE356}"/>
              </a:ext>
            </a:extLst>
          </p:cNvPr>
          <p:cNvSpPr>
            <a:spLocks xmlns:a="http://schemas.openxmlformats.org/drawingml/2006/main" noGrp="1"/>
          </p:cNvSpPr>
          <p:nvPr/>
        </p:nvSpPr>
        <p:spPr>
          <a:xfrm xmlns:a="http://schemas.openxmlformats.org/drawingml/2006/main">
            <a:off x="685800" y="33337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E7963"/>
                </a:solidFill>
                <a:latin typeface="Arial"/>
                <a:ea typeface="Arial"/>
                <a:cs typeface="Arial"/>
              </a:defRPr>
            </a:pPr>
            <a:r>
              <a:rPr sz="1200" b="1">
                <a:solidFill>
                  <a:srgbClr val="3E7963"/>
                </a:solidFill>
                <a:latin typeface="Arial"/>
                <a:ea typeface="Arial"/>
                <a:cs typeface="Arial"/>
              </a:rPr>
              <a:t>03 / STACK</a:t>
            </a:r>
          </a:p>
        </p:txBody>
      </p:sp>
      <p:sp>
        <p:nvSpPr>
          <p:cNvPr id="2" name="">
            <a:extLst xmlns:a="http://schemas.openxmlformats.org/drawingml/2006/main">
              <a:ext uri="{FF2B5EF4-FFF2-40B4-BE49-F238E27FC236}">
                <a16:creationId xmlns:a16="http://schemas.microsoft.com/office/drawing/2014/main" id="{19C8F9E4-BFAE-4495-80D8-E33C2D8D0922}"/>
              </a:ext>
            </a:extLst>
          </p:cNvPr>
          <p:cNvSpPr>
            <a:spLocks xmlns:a="http://schemas.openxmlformats.org/drawingml/2006/main" noGrp="1"/>
          </p:cNvSpPr>
          <p:nvPr/>
        </p:nvSpPr>
        <p:spPr>
          <a:xfrm xmlns:a="http://schemas.openxmlformats.org/drawingml/2006/main">
            <a:off x="685800" y="704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52E"/>
                </a:solidFill>
                <a:latin typeface="Arial"/>
                <a:ea typeface="Arial"/>
                <a:cs typeface="Arial"/>
              </a:defRPr>
            </a:pPr>
            <a:r>
              <a:rPr sz="3300" b="1">
                <a:solidFill>
                  <a:srgbClr val="18352E"/>
                </a:solidFill>
                <a:latin typeface="Arial"/>
                <a:ea typeface="Arial"/>
                <a:cs typeface="Arial"/>
              </a:rPr>
              <a:t>Technology choices</a:t>
            </a:r>
          </a:p>
        </p:txBody>
      </p:sp>
      <p:sp>
        <p:nvSpPr>
          <p:cNvPr id="3" name="">
            <a:extLst xmlns:a="http://schemas.openxmlformats.org/drawingml/2006/main">
              <a:ext uri="{FF2B5EF4-FFF2-40B4-BE49-F238E27FC236}">
                <a16:creationId xmlns:a16="http://schemas.microsoft.com/office/drawing/2014/main" id="{DDC09580-3ECB-4672-996F-741D2B22640B}"/>
              </a:ext>
            </a:extLst>
          </p:cNvPr>
          <p:cNvSpPr>
            <a:spLocks xmlns:a="http://schemas.openxmlformats.org/drawingml/2006/main" noGrp="1"/>
          </p:cNvSpPr>
          <p:nvPr/>
        </p:nvSpPr>
        <p:spPr>
          <a:xfrm xmlns:a="http://schemas.openxmlformats.org/drawingml/2006/main">
            <a:off x="685800" y="63627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77168"/>
                </a:solidFill>
                <a:latin typeface="Arial"/>
                <a:ea typeface="Arial"/>
                <a:cs typeface="Arial"/>
              </a:defRPr>
            </a:pPr>
            <a:r>
              <a:rPr sz="1050" b="0">
                <a:solidFill>
                  <a:srgbClr val="577168"/>
                </a:solidFill>
                <a:latin typeface="Arial"/>
                <a:ea typeface="Arial"/>
                <a:cs typeface="Arial"/>
              </a:rPr>
              <a:t>IKS ARCHIVE  •  04</a:t>
            </a:r>
          </a:p>
        </p:txBody>
      </p:sp>
      <p:sp>
        <p:nvSpPr>
          <p:cNvPr id="4" name="">
            <a:extLst xmlns:a="http://schemas.openxmlformats.org/drawingml/2006/main">
              <a:ext uri="{FF2B5EF4-FFF2-40B4-BE49-F238E27FC236}">
                <a16:creationId xmlns:a16="http://schemas.microsoft.com/office/drawing/2014/main" id="{48FB8EE2-805E-4A2A-B5A1-58549AE9F5D0}"/>
              </a:ext>
            </a:extLst>
          </p:cNvPr>
          <p:cNvSpPr>
            <a:spLocks xmlns:a="http://schemas.openxmlformats.org/drawingml/2006/main" noGrp="1"/>
          </p:cNvSpPr>
          <p:nvPr/>
        </p:nvSpPr>
        <p:spPr>
          <a:xfrm xmlns:a="http://schemas.openxmlformats.org/drawingml/2006/main">
            <a:off x="714375" y="1971675"/>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E7963"/>
                </a:solidFill>
                <a:latin typeface="Arial"/>
                <a:ea typeface="Arial"/>
                <a:cs typeface="Arial"/>
              </a:defRPr>
            </a:pPr>
            <a:r>
              <a:rPr sz="1350" b="1">
                <a:solidFill>
                  <a:srgbClr val="3E7963"/>
                </a:solidFill>
                <a:latin typeface="Arial"/>
                <a:ea typeface="Arial"/>
                <a:cs typeface="Arial"/>
              </a:rPr>
              <a:t>FRONTEND</a:t>
            </a:r>
          </a:p>
        </p:txBody>
      </p:sp>
      <p:sp>
        <p:nvSpPr>
          <p:cNvPr id="5" name="">
            <a:extLst xmlns:a="http://schemas.openxmlformats.org/drawingml/2006/main">
              <a:ext uri="{FF2B5EF4-FFF2-40B4-BE49-F238E27FC236}">
                <a16:creationId xmlns:a16="http://schemas.microsoft.com/office/drawing/2014/main" id="{034FBFC5-66EB-409E-B4C8-AC4842E4CD1E}"/>
              </a:ext>
            </a:extLst>
          </p:cNvPr>
          <p:cNvSpPr>
            <a:spLocks xmlns:a="http://schemas.openxmlformats.org/drawingml/2006/main" noGrp="1"/>
          </p:cNvSpPr>
          <p:nvPr/>
        </p:nvSpPr>
        <p:spPr>
          <a:xfrm xmlns:a="http://schemas.openxmlformats.org/drawingml/2006/main">
            <a:off x="714375" y="2447925"/>
            <a:ext cx="29527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52E"/>
                </a:solidFill>
                <a:latin typeface="Arial"/>
                <a:ea typeface="Arial"/>
                <a:cs typeface="Arial"/>
              </a:defRPr>
            </a:pPr>
            <a:r>
              <a:rPr sz="2025" b="0">
                <a:solidFill>
                  <a:srgbClr val="18352E"/>
                </a:solidFill>
                <a:latin typeface="Arial"/>
                <a:ea typeface="Arial"/>
                <a:cs typeface="Arial"/>
              </a:rPr>
              <a:t>React 18 + Vite 5</a:t>
            </a:r>
          </a:p>
          <a:p xmlns:a="http://schemas.openxmlformats.org/drawingml/2006/main">
            <a:pPr>
              <a:defRPr sz="2025" b="0">
                <a:solidFill>
                  <a:srgbClr val="18352E"/>
                </a:solidFill>
                <a:latin typeface="Arial"/>
                <a:ea typeface="Arial"/>
                <a:cs typeface="Arial"/>
              </a:defRPr>
            </a:pPr>
            <a:r>
              <a:rPr sz="2025" b="0">
                <a:solidFill>
                  <a:srgbClr val="18352E"/>
                </a:solidFill>
                <a:latin typeface="Arial"/>
                <a:ea typeface="Arial"/>
                <a:cs typeface="Arial"/>
              </a:rPr>
              <a:t>Responsive CSS</a:t>
            </a:r>
          </a:p>
          <a:p xmlns:a="http://schemas.openxmlformats.org/drawingml/2006/main">
            <a:pPr>
              <a:defRPr sz="2025" b="0">
                <a:solidFill>
                  <a:srgbClr val="18352E"/>
                </a:solidFill>
                <a:latin typeface="Arial"/>
                <a:ea typeface="Arial"/>
                <a:cs typeface="Arial"/>
              </a:defRPr>
            </a:pPr>
            <a:r>
              <a:rPr sz="2025" b="0">
                <a:solidFill>
                  <a:srgbClr val="18352E"/>
                </a:solidFill>
                <a:latin typeface="Arial"/>
                <a:ea typeface="Arial"/>
                <a:cs typeface="Arial"/>
              </a:rPr>
              <a:t>lucide-react icons</a:t>
            </a:r>
          </a:p>
        </p:txBody>
      </p:sp>
      <p:sp>
        <p:nvSpPr>
          <p:cNvPr id="6" name="">
            <a:extLst xmlns:a="http://schemas.openxmlformats.org/drawingml/2006/main">
              <a:ext uri="{FF2B5EF4-FFF2-40B4-BE49-F238E27FC236}">
                <a16:creationId xmlns:a16="http://schemas.microsoft.com/office/drawing/2014/main" id="{6555E8AF-74D0-4291-A385-C8C5EC357E0E}"/>
              </a:ext>
            </a:extLst>
          </p:cNvPr>
          <p:cNvSpPr>
            <a:spLocks xmlns:a="http://schemas.openxmlformats.org/drawingml/2006/main" noGrp="1"/>
          </p:cNvSpPr>
          <p:nvPr/>
        </p:nvSpPr>
        <p:spPr>
          <a:xfrm xmlns:a="http://schemas.openxmlformats.org/drawingml/2006/main">
            <a:off x="4362450" y="1971675"/>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E7963"/>
                </a:solidFill>
                <a:latin typeface="Arial"/>
                <a:ea typeface="Arial"/>
                <a:cs typeface="Arial"/>
              </a:defRPr>
            </a:pPr>
            <a:r>
              <a:rPr sz="1350" b="1">
                <a:solidFill>
                  <a:srgbClr val="3E7963"/>
                </a:solidFill>
                <a:latin typeface="Arial"/>
                <a:ea typeface="Arial"/>
                <a:cs typeface="Arial"/>
              </a:rPr>
              <a:t>BACKEND</a:t>
            </a:r>
          </a:p>
        </p:txBody>
      </p:sp>
      <p:sp>
        <p:nvSpPr>
          <p:cNvPr id="7" name="">
            <a:extLst xmlns:a="http://schemas.openxmlformats.org/drawingml/2006/main">
              <a:ext uri="{FF2B5EF4-FFF2-40B4-BE49-F238E27FC236}">
                <a16:creationId xmlns:a16="http://schemas.microsoft.com/office/drawing/2014/main" id="{F6788229-52D8-4466-B93B-3BED4A7C6207}"/>
              </a:ext>
            </a:extLst>
          </p:cNvPr>
          <p:cNvSpPr>
            <a:spLocks xmlns:a="http://schemas.openxmlformats.org/drawingml/2006/main" noGrp="1"/>
          </p:cNvSpPr>
          <p:nvPr/>
        </p:nvSpPr>
        <p:spPr>
          <a:xfrm xmlns:a="http://schemas.openxmlformats.org/drawingml/2006/main">
            <a:off x="4362450" y="2447925"/>
            <a:ext cx="29527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52E"/>
                </a:solidFill>
                <a:latin typeface="Arial"/>
                <a:ea typeface="Arial"/>
                <a:cs typeface="Arial"/>
              </a:defRPr>
            </a:pPr>
            <a:r>
              <a:rPr sz="2025" b="0">
                <a:solidFill>
                  <a:srgbClr val="18352E"/>
                </a:solidFill>
                <a:latin typeface="Arial"/>
                <a:ea typeface="Arial"/>
                <a:cs typeface="Arial"/>
              </a:rPr>
              <a:t>Python + FastAPI</a:t>
            </a:r>
          </a:p>
          <a:p xmlns:a="http://schemas.openxmlformats.org/drawingml/2006/main">
            <a:pPr>
              <a:defRPr sz="2025" b="0">
                <a:solidFill>
                  <a:srgbClr val="18352E"/>
                </a:solidFill>
                <a:latin typeface="Arial"/>
                <a:ea typeface="Arial"/>
                <a:cs typeface="Arial"/>
              </a:defRPr>
            </a:pPr>
            <a:r>
              <a:rPr sz="2025" b="0">
                <a:solidFill>
                  <a:srgbClr val="18352E"/>
                </a:solidFill>
                <a:latin typeface="Arial"/>
                <a:ea typeface="Arial"/>
                <a:cs typeface="Arial"/>
              </a:rPr>
              <a:t>Pydantic models</a:t>
            </a:r>
          </a:p>
          <a:p xmlns:a="http://schemas.openxmlformats.org/drawingml/2006/main">
            <a:pPr>
              <a:defRPr sz="2025" b="0">
                <a:solidFill>
                  <a:srgbClr val="18352E"/>
                </a:solidFill>
                <a:latin typeface="Arial"/>
                <a:ea typeface="Arial"/>
                <a:cs typeface="Arial"/>
              </a:defRPr>
            </a:pPr>
            <a:r>
              <a:rPr sz="2025" b="0">
                <a:solidFill>
                  <a:srgbClr val="18352E"/>
                </a:solidFill>
                <a:latin typeface="Arial"/>
                <a:ea typeface="Arial"/>
                <a:cs typeface="Arial"/>
              </a:rPr>
              <a:t>Uvicorn server</a:t>
            </a:r>
          </a:p>
        </p:txBody>
      </p:sp>
      <p:sp>
        <p:nvSpPr>
          <p:cNvPr id="8" name="">
            <a:extLst xmlns:a="http://schemas.openxmlformats.org/drawingml/2006/main">
              <a:ext uri="{FF2B5EF4-FFF2-40B4-BE49-F238E27FC236}">
                <a16:creationId xmlns:a16="http://schemas.microsoft.com/office/drawing/2014/main" id="{C45F23DF-689D-4643-B02F-7ACF73F4E1B8}"/>
              </a:ext>
            </a:extLst>
          </p:cNvPr>
          <p:cNvSpPr>
            <a:spLocks xmlns:a="http://schemas.openxmlformats.org/drawingml/2006/main" noGrp="1"/>
          </p:cNvSpPr>
          <p:nvPr/>
        </p:nvSpPr>
        <p:spPr>
          <a:xfrm xmlns:a="http://schemas.openxmlformats.org/drawingml/2006/main">
            <a:off x="7981950" y="1971675"/>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E7963"/>
                </a:solidFill>
                <a:latin typeface="Arial"/>
                <a:ea typeface="Arial"/>
                <a:cs typeface="Arial"/>
              </a:defRPr>
            </a:pPr>
            <a:r>
              <a:rPr sz="1350" b="1">
                <a:solidFill>
                  <a:srgbClr val="3E7963"/>
                </a:solidFill>
                <a:latin typeface="Arial"/>
                <a:ea typeface="Arial"/>
                <a:cs typeface="Arial"/>
              </a:rPr>
              <a:t>INTEGRATION</a:t>
            </a:r>
          </a:p>
        </p:txBody>
      </p:sp>
      <p:sp>
        <p:nvSpPr>
          <p:cNvPr id="9" name="">
            <a:extLst xmlns:a="http://schemas.openxmlformats.org/drawingml/2006/main">
              <a:ext uri="{FF2B5EF4-FFF2-40B4-BE49-F238E27FC236}">
                <a16:creationId xmlns:a16="http://schemas.microsoft.com/office/drawing/2014/main" id="{6AB3B5D4-5C0E-482F-B851-60ACB1F20172}"/>
              </a:ext>
            </a:extLst>
          </p:cNvPr>
          <p:cNvSpPr>
            <a:spLocks xmlns:a="http://schemas.openxmlformats.org/drawingml/2006/main" noGrp="1"/>
          </p:cNvSpPr>
          <p:nvPr/>
        </p:nvSpPr>
        <p:spPr>
          <a:xfrm xmlns:a="http://schemas.openxmlformats.org/drawingml/2006/main">
            <a:off x="7981950" y="2447925"/>
            <a:ext cx="3143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52E"/>
                </a:solidFill>
                <a:latin typeface="Arial"/>
                <a:ea typeface="Arial"/>
                <a:cs typeface="Arial"/>
              </a:defRPr>
            </a:pPr>
            <a:r>
              <a:rPr sz="2025" b="0">
                <a:solidFill>
                  <a:srgbClr val="18352E"/>
                </a:solidFill>
                <a:latin typeface="Arial"/>
                <a:ea typeface="Arial"/>
                <a:cs typeface="Arial"/>
              </a:rPr>
              <a:t>httpx + AI adapters</a:t>
            </a:r>
          </a:p>
          <a:p xmlns:a="http://schemas.openxmlformats.org/drawingml/2006/main">
            <a:pPr>
              <a:defRPr sz="2025" b="0">
                <a:solidFill>
                  <a:srgbClr val="18352E"/>
                </a:solidFill>
                <a:latin typeface="Arial"/>
                <a:ea typeface="Arial"/>
                <a:cs typeface="Arial"/>
              </a:defRPr>
            </a:pPr>
            <a:r>
              <a:rPr sz="2025" b="0">
                <a:solidFill>
                  <a:srgbClr val="18352E"/>
                </a:solidFill>
                <a:latin typeface="Arial"/>
                <a:ea typeface="Arial"/>
                <a:cs typeface="Arial"/>
              </a:rPr>
              <a:t>SSE over HTTP</a:t>
            </a:r>
          </a:p>
          <a:p xmlns:a="http://schemas.openxmlformats.org/drawingml/2006/main">
            <a:pPr>
              <a:defRPr sz="2025" b="0">
                <a:solidFill>
                  <a:srgbClr val="18352E"/>
                </a:solidFill>
                <a:latin typeface="Arial"/>
                <a:ea typeface="Arial"/>
                <a:cs typeface="Arial"/>
              </a:defRPr>
            </a:pPr>
            <a:r>
              <a:rPr sz="2025" b="0">
                <a:solidFill>
                  <a:srgbClr val="18352E"/>
                </a:solidFill>
                <a:latin typeface="Arial"/>
                <a:ea typeface="Arial"/>
                <a:cs typeface="Arial"/>
              </a:rPr>
              <a:t>Browser localStorage</a:t>
            </a:r>
          </a:p>
        </p:txBody>
      </p:sp>
      <p:sp>
        <p:nvSpPr>
          <p:cNvPr id="10" name="">
            <a:extLst xmlns:a="http://schemas.openxmlformats.org/drawingml/2006/main">
              <a:ext uri="{FF2B5EF4-FFF2-40B4-BE49-F238E27FC236}">
                <a16:creationId xmlns:a16="http://schemas.microsoft.com/office/drawing/2014/main" id="{3013D986-9F52-472F-B8D8-038E9B6EB1C5}"/>
              </a:ext>
            </a:extLst>
          </p:cNvPr>
          <p:cNvSpPr>
            <a:spLocks xmlns:a="http://schemas.openxmlformats.org/drawingml/2006/main" noGrp="1"/>
          </p:cNvSpPr>
          <p:nvPr/>
        </p:nvSpPr>
        <p:spPr>
          <a:xfrm xmlns:a="http://schemas.openxmlformats.org/drawingml/2006/main">
            <a:off x="714375" y="5286375"/>
            <a:ext cx="10382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77168"/>
                </a:solidFill>
                <a:latin typeface="Arial"/>
                <a:ea typeface="Arial"/>
                <a:cs typeface="Arial"/>
              </a:defRPr>
            </a:pPr>
            <a:r>
              <a:rPr sz="1875" b="1">
                <a:solidFill>
                  <a:srgbClr val="577168"/>
                </a:solidFill>
                <a:latin typeface="Arial"/>
                <a:ea typeface="Arial"/>
                <a:cs typeface="Arial"/>
              </a:rPr>
              <a:t>Local development: Vite :5173  →  proxy /api  →  FastAPI :8000</a:t>
            </a:r>
          </a:p>
        </p:txBody>
      </p:sp>
    </p:spTree>
    <p:extLst>
      <p:ext uri="{BB962C8B-B14F-4D97-AF65-F5344CB8AC3E}">
        <p14:creationId xmlns:p14="http://schemas.microsoft.com/office/powerpoint/2010/main" val="1957246556"/>
      </p:ext>
    </p:extLst>
  </p:cSld>
</p:sld>
</file>

<file path=ppt/slides/slide5.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0870CCB-4BAF-489C-ACEE-322382120CE8}"/>
              </a:ext>
            </a:extLst>
          </p:cNvPr>
          <p:cNvSpPr>
            <a:spLocks xmlns:a="http://schemas.openxmlformats.org/drawingml/2006/main" noGrp="1"/>
          </p:cNvSpPr>
          <p:nvPr/>
        </p:nvSpPr>
        <p:spPr>
          <a:xfrm xmlns:a="http://schemas.openxmlformats.org/drawingml/2006/main">
            <a:off x="685800" y="33337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E7963"/>
                </a:solidFill>
                <a:latin typeface="Arial"/>
                <a:ea typeface="Arial"/>
                <a:cs typeface="Arial"/>
              </a:defRPr>
            </a:pPr>
            <a:r>
              <a:rPr sz="1200" b="1">
                <a:solidFill>
                  <a:srgbClr val="3E7963"/>
                </a:solidFill>
                <a:latin typeface="Arial"/>
                <a:ea typeface="Arial"/>
                <a:cs typeface="Arial"/>
              </a:rPr>
              <a:t>04 / REQUEST FLOW</a:t>
            </a:r>
          </a:p>
        </p:txBody>
      </p:sp>
      <p:sp>
        <p:nvSpPr>
          <p:cNvPr id="2" name="">
            <a:extLst xmlns:a="http://schemas.openxmlformats.org/drawingml/2006/main">
              <a:ext uri="{FF2B5EF4-FFF2-40B4-BE49-F238E27FC236}">
                <a16:creationId xmlns:a16="http://schemas.microsoft.com/office/drawing/2014/main" id="{7449FC8F-5B3B-46A5-A6C8-6B60691D4535}"/>
              </a:ext>
            </a:extLst>
          </p:cNvPr>
          <p:cNvSpPr>
            <a:spLocks xmlns:a="http://schemas.openxmlformats.org/drawingml/2006/main" noGrp="1"/>
          </p:cNvSpPr>
          <p:nvPr/>
        </p:nvSpPr>
        <p:spPr>
          <a:xfrm xmlns:a="http://schemas.openxmlformats.org/drawingml/2006/main">
            <a:off x="685800" y="704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52E"/>
                </a:solidFill>
                <a:latin typeface="Arial"/>
                <a:ea typeface="Arial"/>
                <a:cs typeface="Arial"/>
              </a:defRPr>
            </a:pPr>
            <a:r>
              <a:rPr sz="3300" b="1">
                <a:solidFill>
                  <a:srgbClr val="18352E"/>
                </a:solidFill>
                <a:latin typeface="Arial"/>
                <a:ea typeface="Arial"/>
                <a:cs typeface="Arial"/>
              </a:rPr>
              <a:t>What happens when a user asks?</a:t>
            </a:r>
          </a:p>
        </p:txBody>
      </p:sp>
      <p:sp>
        <p:nvSpPr>
          <p:cNvPr id="3" name="">
            <a:extLst xmlns:a="http://schemas.openxmlformats.org/drawingml/2006/main">
              <a:ext uri="{FF2B5EF4-FFF2-40B4-BE49-F238E27FC236}">
                <a16:creationId xmlns:a16="http://schemas.microsoft.com/office/drawing/2014/main" id="{C14BCF0F-4779-43AC-972F-118BA2E55015}"/>
              </a:ext>
            </a:extLst>
          </p:cNvPr>
          <p:cNvSpPr>
            <a:spLocks xmlns:a="http://schemas.openxmlformats.org/drawingml/2006/main" noGrp="1"/>
          </p:cNvSpPr>
          <p:nvPr/>
        </p:nvSpPr>
        <p:spPr>
          <a:xfrm xmlns:a="http://schemas.openxmlformats.org/drawingml/2006/main">
            <a:off x="685800" y="63627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77168"/>
                </a:solidFill>
                <a:latin typeface="Arial"/>
                <a:ea typeface="Arial"/>
                <a:cs typeface="Arial"/>
              </a:defRPr>
            </a:pPr>
            <a:r>
              <a:rPr sz="1050" b="0">
                <a:solidFill>
                  <a:srgbClr val="577168"/>
                </a:solidFill>
                <a:latin typeface="Arial"/>
                <a:ea typeface="Arial"/>
                <a:cs typeface="Arial"/>
              </a:rPr>
              <a:t>IKS ARCHIVE  •  05</a:t>
            </a:r>
          </a:p>
        </p:txBody>
      </p:sp>
      <p:sp>
        <p:nvSpPr>
          <p:cNvPr id="4" name="">
            <a:extLst xmlns:a="http://schemas.openxmlformats.org/drawingml/2006/main">
              <a:ext uri="{FF2B5EF4-FFF2-40B4-BE49-F238E27FC236}">
                <a16:creationId xmlns:a16="http://schemas.microsoft.com/office/drawing/2014/main" id="{8115FBAC-1958-4B47-A063-EA42E5B41BF8}"/>
              </a:ext>
            </a:extLst>
          </p:cNvPr>
          <p:cNvSpPr>
            <a:spLocks xmlns:a="http://schemas.openxmlformats.org/drawingml/2006/main" noGrp="1"/>
          </p:cNvSpPr>
          <p:nvPr/>
        </p:nvSpPr>
        <p:spPr>
          <a:xfrm xmlns:a="http://schemas.openxmlformats.org/drawingml/2006/main">
            <a:off x="714375" y="1828800"/>
            <a:ext cx="47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E7963"/>
                </a:solidFill>
                <a:latin typeface="Arial"/>
                <a:ea typeface="Arial"/>
                <a:cs typeface="Arial"/>
              </a:defRPr>
            </a:pPr>
            <a:r>
              <a:rPr sz="3300" b="1">
                <a:solidFill>
                  <a:srgbClr val="3E7963"/>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1CCFB394-EBFA-442F-AF89-86B38FD02F2A}"/>
              </a:ext>
            </a:extLst>
          </p:cNvPr>
          <p:cNvSpPr>
            <a:spLocks xmlns:a="http://schemas.openxmlformats.org/drawingml/2006/main" noGrp="1"/>
          </p:cNvSpPr>
          <p:nvPr/>
        </p:nvSpPr>
        <p:spPr>
          <a:xfrm xmlns:a="http://schemas.openxmlformats.org/drawingml/2006/main">
            <a:off x="1428750" y="1895475"/>
            <a:ext cx="9048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52E"/>
                </a:solidFill>
                <a:latin typeface="Arial"/>
                <a:ea typeface="Arial"/>
                <a:cs typeface="Arial"/>
              </a:defRPr>
            </a:pPr>
            <a:r>
              <a:rPr sz="2025" b="0">
                <a:solidFill>
                  <a:srgbClr val="18352E"/>
                </a:solidFill>
                <a:latin typeface="Arial"/>
                <a:ea typeface="Arial"/>
                <a:cs typeface="Arial"/>
              </a:rPr>
              <a:t>React sends recent chat turns as JSON</a:t>
            </a:r>
          </a:p>
        </p:txBody>
      </p:sp>
      <p:sp>
        <p:nvSpPr>
          <p:cNvPr id="6" name="">
            <a:extLst xmlns:a="http://schemas.openxmlformats.org/drawingml/2006/main">
              <a:ext uri="{FF2B5EF4-FFF2-40B4-BE49-F238E27FC236}">
                <a16:creationId xmlns:a16="http://schemas.microsoft.com/office/drawing/2014/main" id="{04F2FE8B-3432-432D-80B9-7AAF4D2040B2}"/>
              </a:ext>
            </a:extLst>
          </p:cNvPr>
          <p:cNvSpPr>
            <a:spLocks xmlns:a="http://schemas.openxmlformats.org/drawingml/2006/main" noGrp="1"/>
          </p:cNvSpPr>
          <p:nvPr/>
        </p:nvSpPr>
        <p:spPr>
          <a:xfrm xmlns:a="http://schemas.openxmlformats.org/drawingml/2006/main">
            <a:off x="714375" y="2705100"/>
            <a:ext cx="47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E7963"/>
                </a:solidFill>
                <a:latin typeface="Arial"/>
                <a:ea typeface="Arial"/>
                <a:cs typeface="Arial"/>
              </a:defRPr>
            </a:pPr>
            <a:r>
              <a:rPr sz="3300" b="1">
                <a:solidFill>
                  <a:srgbClr val="3E7963"/>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7CAFB2F8-FA4F-49F6-B1F3-B2110B34D2F9}"/>
              </a:ext>
            </a:extLst>
          </p:cNvPr>
          <p:cNvSpPr>
            <a:spLocks xmlns:a="http://schemas.openxmlformats.org/drawingml/2006/main" noGrp="1"/>
          </p:cNvSpPr>
          <p:nvPr/>
        </p:nvSpPr>
        <p:spPr>
          <a:xfrm xmlns:a="http://schemas.openxmlformats.org/drawingml/2006/main">
            <a:off x="1428750" y="2771775"/>
            <a:ext cx="9620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52E"/>
                </a:solidFill>
                <a:latin typeface="Arial"/>
                <a:ea typeface="Arial"/>
                <a:cs typeface="Arial"/>
              </a:defRPr>
            </a:pPr>
            <a:r>
              <a:rPr sz="2025" b="0">
                <a:solidFill>
                  <a:srgbClr val="18352E"/>
                </a:solidFill>
                <a:latin typeface="Arial"/>
                <a:ea typeface="Arial"/>
                <a:cs typeface="Arial"/>
              </a:rPr>
              <a:t>Backend validates, limits history and applies the IKS prompt</a:t>
            </a:r>
          </a:p>
        </p:txBody>
      </p:sp>
      <p:sp>
        <p:nvSpPr>
          <p:cNvPr id="8" name="">
            <a:extLst xmlns:a="http://schemas.openxmlformats.org/drawingml/2006/main">
              <a:ext uri="{FF2B5EF4-FFF2-40B4-BE49-F238E27FC236}">
                <a16:creationId xmlns:a16="http://schemas.microsoft.com/office/drawing/2014/main" id="{B8F79ACC-FA2D-49BB-8B3C-2ABAF9406CE5}"/>
              </a:ext>
            </a:extLst>
          </p:cNvPr>
          <p:cNvSpPr>
            <a:spLocks xmlns:a="http://schemas.openxmlformats.org/drawingml/2006/main" noGrp="1"/>
          </p:cNvSpPr>
          <p:nvPr/>
        </p:nvSpPr>
        <p:spPr>
          <a:xfrm xmlns:a="http://schemas.openxmlformats.org/drawingml/2006/main">
            <a:off x="714375" y="3657600"/>
            <a:ext cx="47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E7963"/>
                </a:solidFill>
                <a:latin typeface="Arial"/>
                <a:ea typeface="Arial"/>
                <a:cs typeface="Arial"/>
              </a:defRPr>
            </a:pPr>
            <a:r>
              <a:rPr sz="3300" b="1">
                <a:solidFill>
                  <a:srgbClr val="3E7963"/>
                </a:solidFill>
                <a:latin typeface="Arial"/>
                <a:ea typeface="Arial"/>
                <a:cs typeface="Arial"/>
              </a:rPr>
              <a:t>3</a:t>
            </a:r>
          </a:p>
        </p:txBody>
      </p:sp>
      <p:sp>
        <p:nvSpPr>
          <p:cNvPr id="9" name="">
            <a:extLst xmlns:a="http://schemas.openxmlformats.org/drawingml/2006/main">
              <a:ext uri="{FF2B5EF4-FFF2-40B4-BE49-F238E27FC236}">
                <a16:creationId xmlns:a16="http://schemas.microsoft.com/office/drawing/2014/main" id="{C07C54F8-9D32-45BA-9DAF-1269FBE05984}"/>
              </a:ext>
            </a:extLst>
          </p:cNvPr>
          <p:cNvSpPr>
            <a:spLocks xmlns:a="http://schemas.openxmlformats.org/drawingml/2006/main" noGrp="1"/>
          </p:cNvSpPr>
          <p:nvPr/>
        </p:nvSpPr>
        <p:spPr>
          <a:xfrm xmlns:a="http://schemas.openxmlformats.org/drawingml/2006/main">
            <a:off x="1428750" y="3733800"/>
            <a:ext cx="904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52E"/>
                </a:solidFill>
                <a:latin typeface="Arial"/>
                <a:ea typeface="Arial"/>
                <a:cs typeface="Arial"/>
              </a:defRPr>
            </a:pPr>
            <a:r>
              <a:rPr sz="2025" b="0">
                <a:solidFill>
                  <a:srgbClr val="18352E"/>
                </a:solidFill>
                <a:latin typeface="Arial"/>
                <a:ea typeface="Arial"/>
                <a:cs typeface="Arial"/>
              </a:rPr>
              <a:t>Selected provider generates an answer</a:t>
            </a:r>
          </a:p>
        </p:txBody>
      </p:sp>
      <p:sp>
        <p:nvSpPr>
          <p:cNvPr id="10" name="">
            <a:extLst xmlns:a="http://schemas.openxmlformats.org/drawingml/2006/main">
              <a:ext uri="{FF2B5EF4-FFF2-40B4-BE49-F238E27FC236}">
                <a16:creationId xmlns:a16="http://schemas.microsoft.com/office/drawing/2014/main" id="{ADE3A784-C11B-41BF-A09A-775EE242D35B}"/>
              </a:ext>
            </a:extLst>
          </p:cNvPr>
          <p:cNvSpPr>
            <a:spLocks xmlns:a="http://schemas.openxmlformats.org/drawingml/2006/main" noGrp="1"/>
          </p:cNvSpPr>
          <p:nvPr/>
        </p:nvSpPr>
        <p:spPr>
          <a:xfrm xmlns:a="http://schemas.openxmlformats.org/drawingml/2006/main">
            <a:off x="714375" y="4552950"/>
            <a:ext cx="47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3E7963"/>
                </a:solidFill>
                <a:latin typeface="Arial"/>
                <a:ea typeface="Arial"/>
                <a:cs typeface="Arial"/>
              </a:defRPr>
            </a:pPr>
            <a:r>
              <a:rPr sz="3300" b="1">
                <a:solidFill>
                  <a:srgbClr val="3E7963"/>
                </a:solidFill>
                <a:latin typeface="Arial"/>
                <a:ea typeface="Arial"/>
                <a:cs typeface="Arial"/>
              </a:rPr>
              <a:t>4</a:t>
            </a:r>
          </a:p>
        </p:txBody>
      </p:sp>
      <p:sp>
        <p:nvSpPr>
          <p:cNvPr id="11" name="">
            <a:extLst xmlns:a="http://schemas.openxmlformats.org/drawingml/2006/main">
              <a:ext uri="{FF2B5EF4-FFF2-40B4-BE49-F238E27FC236}">
                <a16:creationId xmlns:a16="http://schemas.microsoft.com/office/drawing/2014/main" id="{D0A3D742-6803-4A15-8846-1C543359BEA1}"/>
              </a:ext>
            </a:extLst>
          </p:cNvPr>
          <p:cNvSpPr>
            <a:spLocks xmlns:a="http://schemas.openxmlformats.org/drawingml/2006/main" noGrp="1"/>
          </p:cNvSpPr>
          <p:nvPr/>
        </p:nvSpPr>
        <p:spPr>
          <a:xfrm xmlns:a="http://schemas.openxmlformats.org/drawingml/2006/main">
            <a:off x="1428750" y="46291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52E"/>
                </a:solidFill>
                <a:latin typeface="Arial"/>
                <a:ea typeface="Arial"/>
                <a:cs typeface="Arial"/>
              </a:defRPr>
            </a:pPr>
            <a:r>
              <a:rPr sz="2025" b="0">
                <a:solidFill>
                  <a:srgbClr val="18352E"/>
                </a:solidFill>
                <a:latin typeface="Arial"/>
                <a:ea typeface="Arial"/>
                <a:cs typeface="Arial"/>
              </a:rPr>
              <a:t>Browser receives SSE completion or error; UI saves recent chat</a:t>
            </a:r>
          </a:p>
        </p:txBody>
      </p:sp>
    </p:spTree>
    <p:extLst>
      <p:ext uri="{BB962C8B-B14F-4D97-AF65-F5344CB8AC3E}">
        <p14:creationId xmlns:p14="http://schemas.microsoft.com/office/powerpoint/2010/main" val="1560578062"/>
      </p:ext>
    </p:extLst>
  </p:cSld>
</p:sld>
</file>

<file path=ppt/slides/slide6.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4A3A20-7E54-4564-80DA-36DF318574F5}"/>
              </a:ext>
            </a:extLst>
          </p:cNvPr>
          <p:cNvSpPr>
            <a:spLocks xmlns:a="http://schemas.openxmlformats.org/drawingml/2006/main" noGrp="1"/>
          </p:cNvSpPr>
          <p:nvPr/>
        </p:nvSpPr>
        <p:spPr>
          <a:xfrm xmlns:a="http://schemas.openxmlformats.org/drawingml/2006/main">
            <a:off x="685800" y="33337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E7963"/>
                </a:solidFill>
                <a:latin typeface="Arial"/>
                <a:ea typeface="Arial"/>
                <a:cs typeface="Arial"/>
              </a:defRPr>
            </a:pPr>
            <a:r>
              <a:rPr sz="1200" b="1">
                <a:solidFill>
                  <a:srgbClr val="3E7963"/>
                </a:solidFill>
                <a:latin typeface="Arial"/>
                <a:ea typeface="Arial"/>
                <a:cs typeface="Arial"/>
              </a:rPr>
              <a:t>05 / RESPONSE LIFECYCLE</a:t>
            </a:r>
          </a:p>
        </p:txBody>
      </p:sp>
      <p:sp>
        <p:nvSpPr>
          <p:cNvPr id="2" name="">
            <a:extLst xmlns:a="http://schemas.openxmlformats.org/drawingml/2006/main">
              <a:ext uri="{FF2B5EF4-FFF2-40B4-BE49-F238E27FC236}">
                <a16:creationId xmlns:a16="http://schemas.microsoft.com/office/drawing/2014/main" id="{793500EE-E3A7-4686-8FC0-CEC15CAFBEC5}"/>
              </a:ext>
            </a:extLst>
          </p:cNvPr>
          <p:cNvSpPr>
            <a:spLocks xmlns:a="http://schemas.openxmlformats.org/drawingml/2006/main" noGrp="1"/>
          </p:cNvSpPr>
          <p:nvPr/>
        </p:nvSpPr>
        <p:spPr>
          <a:xfrm xmlns:a="http://schemas.openxmlformats.org/drawingml/2006/main">
            <a:off x="685800" y="704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52E"/>
                </a:solidFill>
                <a:latin typeface="Arial"/>
                <a:ea typeface="Arial"/>
                <a:cs typeface="Arial"/>
              </a:defRPr>
            </a:pPr>
            <a:r>
              <a:rPr sz="3300" b="1">
                <a:solidFill>
                  <a:srgbClr val="18352E"/>
                </a:solidFill>
                <a:latin typeface="Arial"/>
                <a:ea typeface="Arial"/>
                <a:cs typeface="Arial"/>
              </a:rPr>
              <a:t>The reliability fix</a:t>
            </a:r>
          </a:p>
        </p:txBody>
      </p:sp>
      <p:sp>
        <p:nvSpPr>
          <p:cNvPr id="3" name="">
            <a:extLst xmlns:a="http://schemas.openxmlformats.org/drawingml/2006/main">
              <a:ext uri="{FF2B5EF4-FFF2-40B4-BE49-F238E27FC236}">
                <a16:creationId xmlns:a16="http://schemas.microsoft.com/office/drawing/2014/main" id="{3D5A91EE-9F86-4C99-B201-B29AD23AE38D}"/>
              </a:ext>
            </a:extLst>
          </p:cNvPr>
          <p:cNvSpPr>
            <a:spLocks xmlns:a="http://schemas.openxmlformats.org/drawingml/2006/main" noGrp="1"/>
          </p:cNvSpPr>
          <p:nvPr/>
        </p:nvSpPr>
        <p:spPr>
          <a:xfrm xmlns:a="http://schemas.openxmlformats.org/drawingml/2006/main">
            <a:off x="685800" y="63627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77168"/>
                </a:solidFill>
                <a:latin typeface="Arial"/>
                <a:ea typeface="Arial"/>
                <a:cs typeface="Arial"/>
              </a:defRPr>
            </a:pPr>
            <a:r>
              <a:rPr sz="1050" b="0">
                <a:solidFill>
                  <a:srgbClr val="577168"/>
                </a:solidFill>
                <a:latin typeface="Arial"/>
                <a:ea typeface="Arial"/>
                <a:cs typeface="Arial"/>
              </a:rPr>
              <a:t>IKS ARCHIVE  •  06</a:t>
            </a:r>
          </a:p>
        </p:txBody>
      </p:sp>
      <p:sp>
        <p:nvSpPr>
          <p:cNvPr id="4" name="">
            <a:extLst xmlns:a="http://schemas.openxmlformats.org/drawingml/2006/main">
              <a:ext uri="{FF2B5EF4-FFF2-40B4-BE49-F238E27FC236}">
                <a16:creationId xmlns:a16="http://schemas.microsoft.com/office/drawing/2014/main" id="{42C7821E-77A8-4E53-A6F1-23C32EE7EBB4}"/>
              </a:ext>
            </a:extLst>
          </p:cNvPr>
          <p:cNvSpPr>
            <a:spLocks xmlns:a="http://schemas.openxmlformats.org/drawingml/2006/main" noGrp="1"/>
          </p:cNvSpPr>
          <p:nvPr/>
        </p:nvSpPr>
        <p:spPr>
          <a:xfrm xmlns:a="http://schemas.openxmlformats.org/drawingml/2006/main">
            <a:off x="714375" y="1857375"/>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E7963"/>
                </a:solidFill>
                <a:latin typeface="Arial"/>
                <a:ea typeface="Arial"/>
                <a:cs typeface="Arial"/>
              </a:defRPr>
            </a:pPr>
            <a:r>
              <a:rPr sz="1350" b="1">
                <a:solidFill>
                  <a:srgbClr val="3E7963"/>
                </a:solidFill>
                <a:latin typeface="Arial"/>
                <a:ea typeface="Arial"/>
                <a:cs typeface="Arial"/>
              </a:rPr>
              <a:t>BEFORE</a:t>
            </a:r>
          </a:p>
        </p:txBody>
      </p:sp>
      <p:sp>
        <p:nvSpPr>
          <p:cNvPr id="5" name="">
            <a:extLst xmlns:a="http://schemas.openxmlformats.org/drawingml/2006/main">
              <a:ext uri="{FF2B5EF4-FFF2-40B4-BE49-F238E27FC236}">
                <a16:creationId xmlns:a16="http://schemas.microsoft.com/office/drawing/2014/main" id="{627FA0B3-089B-4FAE-A0F2-DA9A809E0F3B}"/>
              </a:ext>
            </a:extLst>
          </p:cNvPr>
          <p:cNvSpPr>
            <a:spLocks xmlns:a="http://schemas.openxmlformats.org/drawingml/2006/main" noGrp="1"/>
          </p:cNvSpPr>
          <p:nvPr/>
        </p:nvSpPr>
        <p:spPr>
          <a:xfrm xmlns:a="http://schemas.openxmlformats.org/drawingml/2006/main">
            <a:off x="714375" y="2352675"/>
            <a:ext cx="47148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52E"/>
                </a:solidFill>
                <a:latin typeface="Arial"/>
                <a:ea typeface="Arial"/>
                <a:cs typeface="Arial"/>
              </a:defRPr>
            </a:pPr>
            <a:r>
              <a:rPr sz="2025" b="0">
                <a:solidFill>
                  <a:srgbClr val="18352E"/>
                </a:solidFill>
                <a:latin typeface="Arial"/>
                <a:ea typeface="Arial"/>
                <a:cs typeface="Arial"/>
              </a:rPr>
              <a:t>Slow first response or an upstream stream ending midway could look like a stuck or finished answer.</a:t>
            </a:r>
          </a:p>
        </p:txBody>
      </p:sp>
      <p:sp>
        <p:nvSpPr>
          <p:cNvPr id="6" name="">
            <a:extLst xmlns:a="http://schemas.openxmlformats.org/drawingml/2006/main">
              <a:ext uri="{FF2B5EF4-FFF2-40B4-BE49-F238E27FC236}">
                <a16:creationId xmlns:a16="http://schemas.microsoft.com/office/drawing/2014/main" id="{AB533CDE-8117-4D5B-9AE4-4E3687231373}"/>
              </a:ext>
            </a:extLst>
          </p:cNvPr>
          <p:cNvSpPr>
            <a:spLocks xmlns:a="http://schemas.openxmlformats.org/drawingml/2006/main" noGrp="1"/>
          </p:cNvSpPr>
          <p:nvPr/>
        </p:nvSpPr>
        <p:spPr>
          <a:xfrm xmlns:a="http://schemas.openxmlformats.org/drawingml/2006/main">
            <a:off x="6477000" y="1857375"/>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E7963"/>
                </a:solidFill>
                <a:latin typeface="Arial"/>
                <a:ea typeface="Arial"/>
                <a:cs typeface="Arial"/>
              </a:defRPr>
            </a:pPr>
            <a:r>
              <a:rPr sz="1350" b="1">
                <a:solidFill>
                  <a:srgbClr val="3E7963"/>
                </a:solidFill>
                <a:latin typeface="Arial"/>
                <a:ea typeface="Arial"/>
                <a:cs typeface="Arial"/>
              </a:rPr>
              <a:t>NOW</a:t>
            </a:r>
          </a:p>
        </p:txBody>
      </p:sp>
      <p:sp>
        <p:nvSpPr>
          <p:cNvPr id="7" name="">
            <a:extLst xmlns:a="http://schemas.openxmlformats.org/drawingml/2006/main">
              <a:ext uri="{FF2B5EF4-FFF2-40B4-BE49-F238E27FC236}">
                <a16:creationId xmlns:a16="http://schemas.microsoft.com/office/drawing/2014/main" id="{379B1834-0849-40B7-B034-21B546E6B9EF}"/>
              </a:ext>
            </a:extLst>
          </p:cNvPr>
          <p:cNvSpPr>
            <a:spLocks xmlns:a="http://schemas.openxmlformats.org/drawingml/2006/main" noGrp="1"/>
          </p:cNvSpPr>
          <p:nvPr/>
        </p:nvSpPr>
        <p:spPr>
          <a:xfrm xmlns:a="http://schemas.openxmlformats.org/drawingml/2006/main">
            <a:off x="6477000" y="2352675"/>
            <a:ext cx="47148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52E"/>
                </a:solidFill>
                <a:latin typeface="Arial"/>
                <a:ea typeface="Arial"/>
                <a:cs typeface="Arial"/>
              </a:defRPr>
            </a:pPr>
            <a:r>
              <a:rPr sz="2025" b="0">
                <a:solidFill>
                  <a:srgbClr val="18352E"/>
                </a:solidFill>
                <a:latin typeface="Arial"/>
                <a:ea typeface="Arial"/>
                <a:cs typeface="Arial"/>
              </a:rPr>
              <a:t>Explicit status, answer, done and error events; timeout handling; retry, cancel and continue controls.</a:t>
            </a:r>
          </a:p>
        </p:txBody>
      </p:sp>
      <p:sp>
        <p:nvSpPr>
          <p:cNvPr id="8" name="">
            <a:extLst xmlns:a="http://schemas.openxmlformats.org/drawingml/2006/main">
              <a:ext uri="{FF2B5EF4-FFF2-40B4-BE49-F238E27FC236}">
                <a16:creationId xmlns:a16="http://schemas.microsoft.com/office/drawing/2014/main" id="{4A27412B-43D2-44F2-AB31-11E3896DAB1D}"/>
              </a:ext>
            </a:extLst>
          </p:cNvPr>
          <p:cNvSpPr>
            <a:spLocks xmlns:a="http://schemas.openxmlformats.org/drawingml/2006/main" noGrp="1"/>
          </p:cNvSpPr>
          <p:nvPr/>
        </p:nvSpPr>
        <p:spPr>
          <a:xfrm xmlns:a="http://schemas.openxmlformats.org/drawingml/2006/main">
            <a:off x="714375" y="5191125"/>
            <a:ext cx="10477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577168"/>
                </a:solidFill>
                <a:latin typeface="Arial"/>
                <a:ea typeface="Arial"/>
                <a:cs typeface="Arial"/>
              </a:defRPr>
            </a:pPr>
            <a:r>
              <a:rPr sz="1875" b="1">
                <a:solidFill>
                  <a:srgbClr val="577168"/>
                </a:solidFill>
                <a:latin typeface="Arial"/>
                <a:ea typeface="Arial"/>
                <a:cs typeface="Arial"/>
              </a:rPr>
              <a:t>A connection closing without done/error is treated as interrupted, not complete.</a:t>
            </a:r>
          </a:p>
        </p:txBody>
      </p:sp>
    </p:spTree>
    <p:extLst>
      <p:ext uri="{BB962C8B-B14F-4D97-AF65-F5344CB8AC3E}">
        <p14:creationId xmlns:p14="http://schemas.microsoft.com/office/powerpoint/2010/main" val="630881560"/>
      </p:ext>
    </p:extLst>
  </p:cSld>
</p:sld>
</file>

<file path=ppt/slides/slide7.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DF85CA-4FF4-4F52-B61B-E0B2A4F0E593}"/>
              </a:ext>
            </a:extLst>
          </p:cNvPr>
          <p:cNvSpPr>
            <a:spLocks xmlns:a="http://schemas.openxmlformats.org/drawingml/2006/main" noGrp="1"/>
          </p:cNvSpPr>
          <p:nvPr/>
        </p:nvSpPr>
        <p:spPr>
          <a:xfrm xmlns:a="http://schemas.openxmlformats.org/drawingml/2006/main">
            <a:off x="685800" y="33337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E7963"/>
                </a:solidFill>
                <a:latin typeface="Arial"/>
                <a:ea typeface="Arial"/>
                <a:cs typeface="Arial"/>
              </a:defRPr>
            </a:pPr>
            <a:r>
              <a:rPr sz="1200" b="1">
                <a:solidFill>
                  <a:srgbClr val="3E7963"/>
                </a:solidFill>
                <a:latin typeface="Arial"/>
                <a:ea typeface="Arial"/>
                <a:cs typeface="Arial"/>
              </a:rPr>
              <a:t>06 / HONEST IMPLEMENTATION</a:t>
            </a:r>
          </a:p>
        </p:txBody>
      </p:sp>
      <p:sp>
        <p:nvSpPr>
          <p:cNvPr id="2" name="">
            <a:extLst xmlns:a="http://schemas.openxmlformats.org/drawingml/2006/main">
              <a:ext uri="{FF2B5EF4-FFF2-40B4-BE49-F238E27FC236}">
                <a16:creationId xmlns:a16="http://schemas.microsoft.com/office/drawing/2014/main" id="{FA4B314C-C5B0-4509-BF74-3FF5C9EE5F2D}"/>
              </a:ext>
            </a:extLst>
          </p:cNvPr>
          <p:cNvSpPr>
            <a:spLocks xmlns:a="http://schemas.openxmlformats.org/drawingml/2006/main" noGrp="1"/>
          </p:cNvSpPr>
          <p:nvPr/>
        </p:nvSpPr>
        <p:spPr>
          <a:xfrm xmlns:a="http://schemas.openxmlformats.org/drawingml/2006/main">
            <a:off x="685800" y="704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52E"/>
                </a:solidFill>
                <a:latin typeface="Arial"/>
                <a:ea typeface="Arial"/>
                <a:cs typeface="Arial"/>
              </a:defRPr>
            </a:pPr>
            <a:r>
              <a:rPr sz="3300" b="1">
                <a:solidFill>
                  <a:srgbClr val="18352E"/>
                </a:solidFill>
                <a:latin typeface="Arial"/>
                <a:ea typeface="Arial"/>
                <a:cs typeface="Arial"/>
              </a:rPr>
              <a:t>A crucial Gemini trade-off</a:t>
            </a:r>
          </a:p>
        </p:txBody>
      </p:sp>
      <p:sp>
        <p:nvSpPr>
          <p:cNvPr id="3" name="">
            <a:extLst xmlns:a="http://schemas.openxmlformats.org/drawingml/2006/main">
              <a:ext uri="{FF2B5EF4-FFF2-40B4-BE49-F238E27FC236}">
                <a16:creationId xmlns:a16="http://schemas.microsoft.com/office/drawing/2014/main" id="{8D314CDF-CADB-45EC-BD07-96D6C3918E4B}"/>
              </a:ext>
            </a:extLst>
          </p:cNvPr>
          <p:cNvSpPr>
            <a:spLocks xmlns:a="http://schemas.openxmlformats.org/drawingml/2006/main" noGrp="1"/>
          </p:cNvSpPr>
          <p:nvPr/>
        </p:nvSpPr>
        <p:spPr>
          <a:xfrm xmlns:a="http://schemas.openxmlformats.org/drawingml/2006/main">
            <a:off x="685800" y="63627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77168"/>
                </a:solidFill>
                <a:latin typeface="Arial"/>
                <a:ea typeface="Arial"/>
                <a:cs typeface="Arial"/>
              </a:defRPr>
            </a:pPr>
            <a:r>
              <a:rPr sz="1050" b="0">
                <a:solidFill>
                  <a:srgbClr val="577168"/>
                </a:solidFill>
                <a:latin typeface="Arial"/>
                <a:ea typeface="Arial"/>
                <a:cs typeface="Arial"/>
              </a:rPr>
              <a:t>IKS ARCHIVE  •  07</a:t>
            </a:r>
          </a:p>
        </p:txBody>
      </p:sp>
      <p:sp>
        <p:nvSpPr>
          <p:cNvPr id="4" name="">
            <a:extLst xmlns:a="http://schemas.openxmlformats.org/drawingml/2006/main">
              <a:ext uri="{FF2B5EF4-FFF2-40B4-BE49-F238E27FC236}">
                <a16:creationId xmlns:a16="http://schemas.microsoft.com/office/drawing/2014/main" id="{E077B381-ACE9-43F4-98BC-97B98A470174}"/>
              </a:ext>
            </a:extLst>
          </p:cNvPr>
          <p:cNvSpPr>
            <a:spLocks xmlns:a="http://schemas.openxmlformats.org/drawingml/2006/main" noGrp="1"/>
          </p:cNvSpPr>
          <p:nvPr/>
        </p:nvSpPr>
        <p:spPr>
          <a:xfrm xmlns:a="http://schemas.openxmlformats.org/drawingml/2006/main">
            <a:off x="714375" y="1962150"/>
            <a:ext cx="4572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E7963"/>
                </a:solidFill>
                <a:latin typeface="Arial"/>
                <a:ea typeface="Arial"/>
                <a:cs typeface="Arial"/>
              </a:defRPr>
            </a:pPr>
            <a:r>
              <a:rPr sz="2250" b="1">
                <a:solidFill>
                  <a:srgbClr val="3E7963"/>
                </a:solidFill>
                <a:latin typeface="Arial"/>
                <a:ea typeface="Arial"/>
                <a:cs typeface="Arial"/>
              </a:rPr>
              <a:t>Current Gemini call</a:t>
            </a:r>
          </a:p>
        </p:txBody>
      </p:sp>
      <p:sp>
        <p:nvSpPr>
          <p:cNvPr id="5" name="">
            <a:extLst xmlns:a="http://schemas.openxmlformats.org/drawingml/2006/main">
              <a:ext uri="{FF2B5EF4-FFF2-40B4-BE49-F238E27FC236}">
                <a16:creationId xmlns:a16="http://schemas.microsoft.com/office/drawing/2014/main" id="{D4912210-C37E-4ACA-B3C0-2A6106777259}"/>
              </a:ext>
            </a:extLst>
          </p:cNvPr>
          <p:cNvSpPr>
            <a:spLocks xmlns:a="http://schemas.openxmlformats.org/drawingml/2006/main" noGrp="1"/>
          </p:cNvSpPr>
          <p:nvPr/>
        </p:nvSpPr>
        <p:spPr>
          <a:xfrm xmlns:a="http://schemas.openxmlformats.org/drawingml/2006/main">
            <a:off x="714375" y="2571750"/>
            <a:ext cx="9715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52E"/>
                </a:solidFill>
                <a:latin typeface="Arial"/>
                <a:ea typeface="Arial"/>
                <a:cs typeface="Arial"/>
              </a:defRPr>
            </a:pPr>
            <a:r>
              <a:rPr sz="2175" b="0">
                <a:solidFill>
                  <a:srgbClr val="18352E"/>
                </a:solidFill>
                <a:latin typeface="Arial"/>
                <a:ea typeface="Arial"/>
                <a:cs typeface="Arial"/>
              </a:rPr>
              <a:t>The backend requests one complete JSON response and checks its finish reason before treating it as successful.</a:t>
            </a:r>
          </a:p>
        </p:txBody>
      </p:sp>
      <p:sp>
        <p:nvSpPr>
          <p:cNvPr id="6" name="">
            <a:extLst xmlns:a="http://schemas.openxmlformats.org/drawingml/2006/main">
              <a:ext uri="{FF2B5EF4-FFF2-40B4-BE49-F238E27FC236}">
                <a16:creationId xmlns:a16="http://schemas.microsoft.com/office/drawing/2014/main" id="{CD133470-D636-46FE-B2CF-BF2E108A2D6C}"/>
              </a:ext>
            </a:extLst>
          </p:cNvPr>
          <p:cNvSpPr>
            <a:spLocks xmlns:a="http://schemas.openxmlformats.org/drawingml/2006/main" noGrp="1"/>
          </p:cNvSpPr>
          <p:nvPr/>
        </p:nvSpPr>
        <p:spPr>
          <a:xfrm xmlns:a="http://schemas.openxmlformats.org/drawingml/2006/main">
            <a:off x="714375" y="4524375"/>
            <a:ext cx="10239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52E"/>
                </a:solidFill>
                <a:latin typeface="Arial"/>
                <a:ea typeface="Arial"/>
                <a:cs typeface="Arial"/>
              </a:defRPr>
            </a:pPr>
            <a:r>
              <a:rPr sz="1800" b="1">
                <a:solidFill>
                  <a:srgbClr val="18352E"/>
                </a:solidFill>
                <a:latin typeface="Arial"/>
                <a:ea typeface="Arial"/>
                <a:cs typeface="Arial"/>
              </a:rPr>
              <a:t>STOP = complete    •    MAX_TOKENS = one continuation attempt</a:t>
            </a:r>
          </a:p>
        </p:txBody>
      </p:sp>
      <p:sp>
        <p:nvSpPr>
          <p:cNvPr id="7" name="">
            <a:extLst xmlns:a="http://schemas.openxmlformats.org/drawingml/2006/main">
              <a:ext uri="{FF2B5EF4-FFF2-40B4-BE49-F238E27FC236}">
                <a16:creationId xmlns:a16="http://schemas.microsoft.com/office/drawing/2014/main" id="{9BD1E2D7-F919-404B-8325-DD9D97D37DEF}"/>
              </a:ext>
            </a:extLst>
          </p:cNvPr>
          <p:cNvSpPr>
            <a:spLocks xmlns:a="http://schemas.openxmlformats.org/drawingml/2006/main" noGrp="1"/>
          </p:cNvSpPr>
          <p:nvPr/>
        </p:nvSpPr>
        <p:spPr>
          <a:xfrm xmlns:a="http://schemas.openxmlformats.org/drawingml/2006/main">
            <a:off x="714375" y="5391150"/>
            <a:ext cx="1000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577168"/>
                </a:solidFill>
                <a:latin typeface="Arial"/>
                <a:ea typeface="Arial"/>
                <a:cs typeface="Arial"/>
              </a:defRPr>
            </a:pPr>
            <a:r>
              <a:rPr sz="1800" b="1">
                <a:solidFill>
                  <a:srgbClr val="577168"/>
                </a:solidFill>
                <a:latin typeface="Arial"/>
                <a:ea typeface="Arial"/>
                <a:cs typeface="Arial"/>
              </a:rPr>
              <a:t>SSE to the browser does not mean live Gemini token streaming.</a:t>
            </a:r>
          </a:p>
        </p:txBody>
      </p:sp>
    </p:spTree>
    <p:extLst>
      <p:ext uri="{BB962C8B-B14F-4D97-AF65-F5344CB8AC3E}">
        <p14:creationId xmlns:p14="http://schemas.microsoft.com/office/powerpoint/2010/main" val="447567812"/>
      </p:ext>
    </p:extLst>
  </p:cSld>
</p:sld>
</file>

<file path=ppt/slides/slide8.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7F0D025-E023-44CD-ADAC-026EF5373110}"/>
              </a:ext>
            </a:extLst>
          </p:cNvPr>
          <p:cNvSpPr>
            <a:spLocks xmlns:a="http://schemas.openxmlformats.org/drawingml/2006/main" noGrp="1"/>
          </p:cNvSpPr>
          <p:nvPr/>
        </p:nvSpPr>
        <p:spPr>
          <a:xfrm xmlns:a="http://schemas.openxmlformats.org/drawingml/2006/main">
            <a:off x="685800" y="33337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E7963"/>
                </a:solidFill>
                <a:latin typeface="Arial"/>
                <a:ea typeface="Arial"/>
                <a:cs typeface="Arial"/>
              </a:defRPr>
            </a:pPr>
            <a:r>
              <a:rPr sz="1200" b="1">
                <a:solidFill>
                  <a:srgbClr val="3E7963"/>
                </a:solidFill>
                <a:latin typeface="Arial"/>
                <a:ea typeface="Arial"/>
                <a:cs typeface="Arial"/>
              </a:rPr>
              <a:t>07 / RESPONSIBLE DESIGN</a:t>
            </a:r>
          </a:p>
        </p:txBody>
      </p:sp>
      <p:sp>
        <p:nvSpPr>
          <p:cNvPr id="2" name="">
            <a:extLst xmlns:a="http://schemas.openxmlformats.org/drawingml/2006/main">
              <a:ext uri="{FF2B5EF4-FFF2-40B4-BE49-F238E27FC236}">
                <a16:creationId xmlns:a16="http://schemas.microsoft.com/office/drawing/2014/main" id="{4D7EA4FB-216B-432A-8DB7-37A39120740C}"/>
              </a:ext>
            </a:extLst>
          </p:cNvPr>
          <p:cNvSpPr>
            <a:spLocks xmlns:a="http://schemas.openxmlformats.org/drawingml/2006/main" noGrp="1"/>
          </p:cNvSpPr>
          <p:nvPr/>
        </p:nvSpPr>
        <p:spPr>
          <a:xfrm xmlns:a="http://schemas.openxmlformats.org/drawingml/2006/main">
            <a:off x="685800" y="704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52E"/>
                </a:solidFill>
                <a:latin typeface="Arial"/>
                <a:ea typeface="Arial"/>
                <a:cs typeface="Arial"/>
              </a:defRPr>
            </a:pPr>
            <a:r>
              <a:rPr sz="3300" b="1">
                <a:solidFill>
                  <a:srgbClr val="18352E"/>
                </a:solidFill>
                <a:latin typeface="Arial"/>
                <a:ea typeface="Arial"/>
                <a:cs typeface="Arial"/>
              </a:rPr>
              <a:t>State, security and constraints</a:t>
            </a:r>
          </a:p>
        </p:txBody>
      </p:sp>
      <p:sp>
        <p:nvSpPr>
          <p:cNvPr id="3" name="">
            <a:extLst xmlns:a="http://schemas.openxmlformats.org/drawingml/2006/main">
              <a:ext uri="{FF2B5EF4-FFF2-40B4-BE49-F238E27FC236}">
                <a16:creationId xmlns:a16="http://schemas.microsoft.com/office/drawing/2014/main" id="{81DD479B-58A1-4FC4-A38E-CC103064A144}"/>
              </a:ext>
            </a:extLst>
          </p:cNvPr>
          <p:cNvSpPr>
            <a:spLocks xmlns:a="http://schemas.openxmlformats.org/drawingml/2006/main" noGrp="1"/>
          </p:cNvSpPr>
          <p:nvPr/>
        </p:nvSpPr>
        <p:spPr>
          <a:xfrm xmlns:a="http://schemas.openxmlformats.org/drawingml/2006/main">
            <a:off x="685800" y="63627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77168"/>
                </a:solidFill>
                <a:latin typeface="Arial"/>
                <a:ea typeface="Arial"/>
                <a:cs typeface="Arial"/>
              </a:defRPr>
            </a:pPr>
            <a:r>
              <a:rPr sz="1050" b="0">
                <a:solidFill>
                  <a:srgbClr val="577168"/>
                </a:solidFill>
                <a:latin typeface="Arial"/>
                <a:ea typeface="Arial"/>
                <a:cs typeface="Arial"/>
              </a:rPr>
              <a:t>IKS ARCHIVE  •  08</a:t>
            </a:r>
          </a:p>
        </p:txBody>
      </p:sp>
      <p:sp>
        <p:nvSpPr>
          <p:cNvPr id="4" name="">
            <a:extLst xmlns:a="http://schemas.openxmlformats.org/drawingml/2006/main">
              <a:ext uri="{FF2B5EF4-FFF2-40B4-BE49-F238E27FC236}">
                <a16:creationId xmlns:a16="http://schemas.microsoft.com/office/drawing/2014/main" id="{6CF78A5F-1C35-40EC-9B75-16C11A3935D8}"/>
              </a:ext>
            </a:extLst>
          </p:cNvPr>
          <p:cNvSpPr>
            <a:spLocks xmlns:a="http://schemas.openxmlformats.org/drawingml/2006/main" noGrp="1"/>
          </p:cNvSpPr>
          <p:nvPr/>
        </p:nvSpPr>
        <p:spPr>
          <a:xfrm xmlns:a="http://schemas.openxmlformats.org/drawingml/2006/main">
            <a:off x="714375" y="1933575"/>
            <a:ext cx="261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E7963"/>
                </a:solidFill>
                <a:latin typeface="Arial"/>
                <a:ea typeface="Arial"/>
                <a:cs typeface="Arial"/>
              </a:defRPr>
            </a:pPr>
            <a:r>
              <a:rPr sz="1350" b="1">
                <a:solidFill>
                  <a:srgbClr val="3E7963"/>
                </a:solidFill>
                <a:latin typeface="Arial"/>
                <a:ea typeface="Arial"/>
                <a:cs typeface="Arial"/>
              </a:rPr>
              <a:t>CHAT STATE</a:t>
            </a:r>
          </a:p>
        </p:txBody>
      </p:sp>
      <p:sp>
        <p:nvSpPr>
          <p:cNvPr id="5" name="">
            <a:extLst xmlns:a="http://schemas.openxmlformats.org/drawingml/2006/main">
              <a:ext uri="{FF2B5EF4-FFF2-40B4-BE49-F238E27FC236}">
                <a16:creationId xmlns:a16="http://schemas.microsoft.com/office/drawing/2014/main" id="{7A216D56-EE91-4FED-8088-9941F2AEFE9D}"/>
              </a:ext>
            </a:extLst>
          </p:cNvPr>
          <p:cNvSpPr>
            <a:spLocks xmlns:a="http://schemas.openxmlformats.org/drawingml/2006/main" noGrp="1"/>
          </p:cNvSpPr>
          <p:nvPr/>
        </p:nvSpPr>
        <p:spPr>
          <a:xfrm xmlns:a="http://schemas.openxmlformats.org/drawingml/2006/main">
            <a:off x="714375" y="2428875"/>
            <a:ext cx="290512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2E"/>
                </a:solidFill>
                <a:latin typeface="Arial"/>
                <a:ea typeface="Arial"/>
                <a:cs typeface="Arial"/>
              </a:defRPr>
            </a:pPr>
            <a:r>
              <a:rPr sz="1875" b="0">
                <a:solidFill>
                  <a:srgbClr val="18352E"/>
                </a:solidFill>
                <a:latin typeface="Arial"/>
                <a:ea typeface="Arial"/>
                <a:cs typeface="Arial"/>
              </a:rPr>
              <a:t>Up to 60 messages saved in this browser's localStorage. No accounts or backend chat database.</a:t>
            </a:r>
          </a:p>
        </p:txBody>
      </p:sp>
      <p:sp>
        <p:nvSpPr>
          <p:cNvPr id="6" name="">
            <a:extLst xmlns:a="http://schemas.openxmlformats.org/drawingml/2006/main">
              <a:ext uri="{FF2B5EF4-FFF2-40B4-BE49-F238E27FC236}">
                <a16:creationId xmlns:a16="http://schemas.microsoft.com/office/drawing/2014/main" id="{894A8540-BE9F-4FFC-AEB5-6370158572ED}"/>
              </a:ext>
            </a:extLst>
          </p:cNvPr>
          <p:cNvSpPr>
            <a:spLocks xmlns:a="http://schemas.openxmlformats.org/drawingml/2006/main" noGrp="1"/>
          </p:cNvSpPr>
          <p:nvPr/>
        </p:nvSpPr>
        <p:spPr>
          <a:xfrm xmlns:a="http://schemas.openxmlformats.org/drawingml/2006/main">
            <a:off x="4429125" y="1933575"/>
            <a:ext cx="261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E7963"/>
                </a:solidFill>
                <a:latin typeface="Arial"/>
                <a:ea typeface="Arial"/>
                <a:cs typeface="Arial"/>
              </a:defRPr>
            </a:pPr>
            <a:r>
              <a:rPr sz="1350" b="1">
                <a:solidFill>
                  <a:srgbClr val="3E7963"/>
                </a:solidFill>
                <a:latin typeface="Arial"/>
                <a:ea typeface="Arial"/>
                <a:cs typeface="Arial"/>
              </a:rPr>
              <a:t>SECRETS</a:t>
            </a:r>
          </a:p>
        </p:txBody>
      </p:sp>
      <p:sp>
        <p:nvSpPr>
          <p:cNvPr id="7" name="">
            <a:extLst xmlns:a="http://schemas.openxmlformats.org/drawingml/2006/main">
              <a:ext uri="{FF2B5EF4-FFF2-40B4-BE49-F238E27FC236}">
                <a16:creationId xmlns:a16="http://schemas.microsoft.com/office/drawing/2014/main" id="{933F2C70-72EC-4A3B-A6FA-DA04FF45A38D}"/>
              </a:ext>
            </a:extLst>
          </p:cNvPr>
          <p:cNvSpPr>
            <a:spLocks xmlns:a="http://schemas.openxmlformats.org/drawingml/2006/main" noGrp="1"/>
          </p:cNvSpPr>
          <p:nvPr/>
        </p:nvSpPr>
        <p:spPr>
          <a:xfrm xmlns:a="http://schemas.openxmlformats.org/drawingml/2006/main">
            <a:off x="4429125" y="2428875"/>
            <a:ext cx="290512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2E"/>
                </a:solidFill>
                <a:latin typeface="Arial"/>
                <a:ea typeface="Arial"/>
                <a:cs typeface="Arial"/>
              </a:defRPr>
            </a:pPr>
            <a:r>
              <a:rPr sz="1875" b="0">
                <a:solidFill>
                  <a:srgbClr val="18352E"/>
                </a:solidFill>
                <a:latin typeface="Arial"/>
                <a:ea typeface="Arial"/>
                <a:cs typeface="Arial"/>
              </a:rPr>
              <a:t>Provider API key belongs in backend .env. CORS restricts origins but is not authentication.</a:t>
            </a:r>
          </a:p>
        </p:txBody>
      </p:sp>
      <p:sp>
        <p:nvSpPr>
          <p:cNvPr id="8" name="">
            <a:extLst xmlns:a="http://schemas.openxmlformats.org/drawingml/2006/main">
              <a:ext uri="{FF2B5EF4-FFF2-40B4-BE49-F238E27FC236}">
                <a16:creationId xmlns:a16="http://schemas.microsoft.com/office/drawing/2014/main" id="{D46B0B2C-EEDF-45E4-BC1B-5A3C4C9C9D74}"/>
              </a:ext>
            </a:extLst>
          </p:cNvPr>
          <p:cNvSpPr>
            <a:spLocks xmlns:a="http://schemas.openxmlformats.org/drawingml/2006/main" noGrp="1"/>
          </p:cNvSpPr>
          <p:nvPr/>
        </p:nvSpPr>
        <p:spPr>
          <a:xfrm xmlns:a="http://schemas.openxmlformats.org/drawingml/2006/main">
            <a:off x="8048625" y="1933575"/>
            <a:ext cx="276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3E7963"/>
                </a:solidFill>
                <a:latin typeface="Arial"/>
                <a:ea typeface="Arial"/>
                <a:cs typeface="Arial"/>
              </a:defRPr>
            </a:pPr>
            <a:r>
              <a:rPr sz="1350" b="1">
                <a:solidFill>
                  <a:srgbClr val="3E7963"/>
                </a:solidFill>
                <a:latin typeface="Arial"/>
                <a:ea typeface="Arial"/>
                <a:cs typeface="Arial"/>
              </a:rPr>
              <a:t>ACADEMIC USE</a:t>
            </a:r>
          </a:p>
        </p:txBody>
      </p:sp>
      <p:sp>
        <p:nvSpPr>
          <p:cNvPr id="9" name="">
            <a:extLst xmlns:a="http://schemas.openxmlformats.org/drawingml/2006/main">
              <a:ext uri="{FF2B5EF4-FFF2-40B4-BE49-F238E27FC236}">
                <a16:creationId xmlns:a16="http://schemas.microsoft.com/office/drawing/2014/main" id="{2B4656FF-032C-46D7-9866-4EC65BA5B4BE}"/>
              </a:ext>
            </a:extLst>
          </p:cNvPr>
          <p:cNvSpPr>
            <a:spLocks xmlns:a="http://schemas.openxmlformats.org/drawingml/2006/main" noGrp="1"/>
          </p:cNvSpPr>
          <p:nvPr/>
        </p:nvSpPr>
        <p:spPr>
          <a:xfrm xmlns:a="http://schemas.openxmlformats.org/drawingml/2006/main">
            <a:off x="8048625" y="2428875"/>
            <a:ext cx="290512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52E"/>
                </a:solidFill>
                <a:latin typeface="Arial"/>
                <a:ea typeface="Arial"/>
                <a:cs typeface="Arial"/>
              </a:defRPr>
            </a:pPr>
            <a:r>
              <a:rPr sz="1875" b="0">
                <a:solidFill>
                  <a:srgbClr val="18352E"/>
                </a:solidFill>
                <a:latin typeface="Arial"/>
                <a:ea typeface="Arial"/>
                <a:cs typeface="Arial"/>
              </a:rPr>
              <a:t>The IKS prompt guides answers; citations are not checked against a trusted corpus.</a:t>
            </a:r>
          </a:p>
        </p:txBody>
      </p:sp>
      <p:sp>
        <p:nvSpPr>
          <p:cNvPr id="10" name="">
            <a:extLst xmlns:a="http://schemas.openxmlformats.org/drawingml/2006/main">
              <a:ext uri="{FF2B5EF4-FFF2-40B4-BE49-F238E27FC236}">
                <a16:creationId xmlns:a16="http://schemas.microsoft.com/office/drawing/2014/main" id="{3B409213-4550-4D5A-B215-99FEDE20F55C}"/>
              </a:ext>
            </a:extLst>
          </p:cNvPr>
          <p:cNvSpPr>
            <a:spLocks xmlns:a="http://schemas.openxmlformats.org/drawingml/2006/main" noGrp="1"/>
          </p:cNvSpPr>
          <p:nvPr/>
        </p:nvSpPr>
        <p:spPr>
          <a:xfrm xmlns:a="http://schemas.openxmlformats.org/drawingml/2006/main">
            <a:off x="714375" y="5353050"/>
            <a:ext cx="10287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577168"/>
                </a:solidFill>
                <a:latin typeface="Arial"/>
                <a:ea typeface="Arial"/>
                <a:cs typeface="Arial"/>
              </a:defRPr>
            </a:pPr>
            <a:r>
              <a:rPr sz="1800" b="1">
                <a:solidFill>
                  <a:srgbClr val="577168"/>
                </a:solidFill>
                <a:latin typeface="Arial"/>
                <a:ea typeface="Arial"/>
                <a:cs typeface="Arial"/>
              </a:rPr>
              <a:t>This is a learning prototype, not a production-grade or source-verified archive.</a:t>
            </a:r>
          </a:p>
        </p:txBody>
      </p:sp>
    </p:spTree>
    <p:extLst>
      <p:ext uri="{BB962C8B-B14F-4D97-AF65-F5344CB8AC3E}">
        <p14:creationId xmlns:p14="http://schemas.microsoft.com/office/powerpoint/2010/main" val="1262544616"/>
      </p:ext>
    </p:extLst>
  </p:cSld>
</p:sld>
</file>

<file path=ppt/slides/slide9.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9A19D91-904B-4BA5-B490-04BF26B4FC0B}"/>
              </a:ext>
            </a:extLst>
          </p:cNvPr>
          <p:cNvSpPr>
            <a:spLocks xmlns:a="http://schemas.openxmlformats.org/drawingml/2006/main" noGrp="1"/>
          </p:cNvSpPr>
          <p:nvPr/>
        </p:nvSpPr>
        <p:spPr>
          <a:xfrm xmlns:a="http://schemas.openxmlformats.org/drawingml/2006/main">
            <a:off x="685800" y="33337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E7963"/>
                </a:solidFill>
                <a:latin typeface="Arial"/>
                <a:ea typeface="Arial"/>
                <a:cs typeface="Arial"/>
              </a:defRPr>
            </a:pPr>
            <a:r>
              <a:rPr sz="1200" b="1">
                <a:solidFill>
                  <a:srgbClr val="3E7963"/>
                </a:solidFill>
                <a:latin typeface="Arial"/>
                <a:ea typeface="Arial"/>
                <a:cs typeface="Arial"/>
              </a:rPr>
              <a:t>08 / EVIDENCE</a:t>
            </a:r>
          </a:p>
        </p:txBody>
      </p:sp>
      <p:sp>
        <p:nvSpPr>
          <p:cNvPr id="2" name="">
            <a:extLst xmlns:a="http://schemas.openxmlformats.org/drawingml/2006/main">
              <a:ext uri="{FF2B5EF4-FFF2-40B4-BE49-F238E27FC236}">
                <a16:creationId xmlns:a16="http://schemas.microsoft.com/office/drawing/2014/main" id="{C97A5067-E37A-407A-8ED2-5ADDD7B328C5}"/>
              </a:ext>
            </a:extLst>
          </p:cNvPr>
          <p:cNvSpPr>
            <a:spLocks xmlns:a="http://schemas.openxmlformats.org/drawingml/2006/main" noGrp="1"/>
          </p:cNvSpPr>
          <p:nvPr/>
        </p:nvSpPr>
        <p:spPr>
          <a:xfrm xmlns:a="http://schemas.openxmlformats.org/drawingml/2006/main">
            <a:off x="685800" y="704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52E"/>
                </a:solidFill>
                <a:latin typeface="Arial"/>
                <a:ea typeface="Arial"/>
                <a:cs typeface="Arial"/>
              </a:defRPr>
            </a:pPr>
            <a:r>
              <a:rPr sz="3300" b="1">
                <a:solidFill>
                  <a:srgbClr val="18352E"/>
                </a:solidFill>
                <a:latin typeface="Arial"/>
                <a:ea typeface="Arial"/>
                <a:cs typeface="Arial"/>
              </a:rPr>
              <a:t>How we tested it</a:t>
            </a:r>
          </a:p>
        </p:txBody>
      </p:sp>
      <p:sp>
        <p:nvSpPr>
          <p:cNvPr id="3" name="">
            <a:extLst xmlns:a="http://schemas.openxmlformats.org/drawingml/2006/main">
              <a:ext uri="{FF2B5EF4-FFF2-40B4-BE49-F238E27FC236}">
                <a16:creationId xmlns:a16="http://schemas.microsoft.com/office/drawing/2014/main" id="{B5226CD3-9F0F-4D82-9BD2-B5A63D5A536C}"/>
              </a:ext>
            </a:extLst>
          </p:cNvPr>
          <p:cNvSpPr>
            <a:spLocks xmlns:a="http://schemas.openxmlformats.org/drawingml/2006/main" noGrp="1"/>
          </p:cNvSpPr>
          <p:nvPr/>
        </p:nvSpPr>
        <p:spPr>
          <a:xfrm xmlns:a="http://schemas.openxmlformats.org/drawingml/2006/main">
            <a:off x="685800" y="63627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77168"/>
                </a:solidFill>
                <a:latin typeface="Arial"/>
                <a:ea typeface="Arial"/>
                <a:cs typeface="Arial"/>
              </a:defRPr>
            </a:pPr>
            <a:r>
              <a:rPr sz="1050" b="0">
                <a:solidFill>
                  <a:srgbClr val="577168"/>
                </a:solidFill>
                <a:latin typeface="Arial"/>
                <a:ea typeface="Arial"/>
                <a:cs typeface="Arial"/>
              </a:rPr>
              <a:t>IKS ARCHIVE  •  09</a:t>
            </a:r>
          </a:p>
        </p:txBody>
      </p:sp>
      <p:sp>
        <p:nvSpPr>
          <p:cNvPr id="4" name="">
            <a:extLst xmlns:a="http://schemas.openxmlformats.org/drawingml/2006/main">
              <a:ext uri="{FF2B5EF4-FFF2-40B4-BE49-F238E27FC236}">
                <a16:creationId xmlns:a16="http://schemas.microsoft.com/office/drawing/2014/main" id="{E34AAC26-498D-4404-BAB4-16D1E3B61905}"/>
              </a:ext>
            </a:extLst>
          </p:cNvPr>
          <p:cNvSpPr>
            <a:spLocks xmlns:a="http://schemas.openxmlformats.org/drawingml/2006/main" noGrp="1"/>
          </p:cNvSpPr>
          <p:nvPr/>
        </p:nvSpPr>
        <p:spPr>
          <a:xfrm xmlns:a="http://schemas.openxmlformats.org/drawingml/2006/main">
            <a:off x="714375" y="189547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3E7963"/>
                </a:solidFill>
                <a:latin typeface="Arial"/>
                <a:ea typeface="Arial"/>
                <a:cs typeface="Arial"/>
              </a:defRPr>
            </a:pPr>
            <a:r>
              <a:rPr sz="1650" b="1">
                <a:solidFill>
                  <a:srgbClr val="3E7963"/>
                </a:solidFill>
                <a:latin typeface="Arial"/>
                <a:ea typeface="Arial"/>
                <a:cs typeface="Arial"/>
              </a:rPr>
              <a:t>BACKEND TESTS</a:t>
            </a:r>
          </a:p>
        </p:txBody>
      </p:sp>
      <p:sp>
        <p:nvSpPr>
          <p:cNvPr id="5" name="">
            <a:extLst xmlns:a="http://schemas.openxmlformats.org/drawingml/2006/main">
              <a:ext uri="{FF2B5EF4-FFF2-40B4-BE49-F238E27FC236}">
                <a16:creationId xmlns:a16="http://schemas.microsoft.com/office/drawing/2014/main" id="{9ECCE0D4-B2C3-47F3-A306-493565F03F6F}"/>
              </a:ext>
            </a:extLst>
          </p:cNvPr>
          <p:cNvSpPr>
            <a:spLocks xmlns:a="http://schemas.openxmlformats.org/drawingml/2006/main" noGrp="1"/>
          </p:cNvSpPr>
          <p:nvPr/>
        </p:nvSpPr>
        <p:spPr>
          <a:xfrm xmlns:a="http://schemas.openxmlformats.org/drawingml/2006/main">
            <a:off x="714375" y="2505075"/>
            <a:ext cx="44767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Complete finish</a:t>
            </a:r>
          </a:p>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Premature finish error</a:t>
            </a:r>
          </a:p>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Token-limit continuation</a:t>
            </a:r>
          </a:p>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Terminal SSE error</a:t>
            </a:r>
          </a:p>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Disconnect cleanup</a:t>
            </a:r>
          </a:p>
        </p:txBody>
      </p:sp>
      <p:sp>
        <p:nvSpPr>
          <p:cNvPr id="6" name="">
            <a:extLst xmlns:a="http://schemas.openxmlformats.org/drawingml/2006/main">
              <a:ext uri="{FF2B5EF4-FFF2-40B4-BE49-F238E27FC236}">
                <a16:creationId xmlns:a16="http://schemas.microsoft.com/office/drawing/2014/main" id="{99A35398-0559-4BC8-A964-B1B2B1BCD1DA}"/>
              </a:ext>
            </a:extLst>
          </p:cNvPr>
          <p:cNvSpPr>
            <a:spLocks xmlns:a="http://schemas.openxmlformats.org/drawingml/2006/main" noGrp="1"/>
          </p:cNvSpPr>
          <p:nvPr/>
        </p:nvSpPr>
        <p:spPr>
          <a:xfrm xmlns:a="http://schemas.openxmlformats.org/drawingml/2006/main">
            <a:off x="6477000" y="18954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3E7963"/>
                </a:solidFill>
                <a:latin typeface="Arial"/>
                <a:ea typeface="Arial"/>
                <a:cs typeface="Arial"/>
              </a:defRPr>
            </a:pPr>
            <a:r>
              <a:rPr sz="1650" b="1">
                <a:solidFill>
                  <a:srgbClr val="3E7963"/>
                </a:solidFill>
                <a:latin typeface="Arial"/>
                <a:ea typeface="Arial"/>
                <a:cs typeface="Arial"/>
              </a:rPr>
              <a:t>FRONTEND TESTS</a:t>
            </a:r>
          </a:p>
        </p:txBody>
      </p:sp>
      <p:sp>
        <p:nvSpPr>
          <p:cNvPr id="7" name="">
            <a:extLst xmlns:a="http://schemas.openxmlformats.org/drawingml/2006/main">
              <a:ext uri="{FF2B5EF4-FFF2-40B4-BE49-F238E27FC236}">
                <a16:creationId xmlns:a16="http://schemas.microsoft.com/office/drawing/2014/main" id="{BDDFEF98-D7C8-4AFC-9F40-F77F1AD7DCA6}"/>
              </a:ext>
            </a:extLst>
          </p:cNvPr>
          <p:cNvSpPr>
            <a:spLocks xmlns:a="http://schemas.openxmlformats.org/drawingml/2006/main" noGrp="1"/>
          </p:cNvSpPr>
          <p:nvPr/>
        </p:nvSpPr>
        <p:spPr>
          <a:xfrm xmlns:a="http://schemas.openxmlformats.org/drawingml/2006/main">
            <a:off x="6477000" y="2505075"/>
            <a:ext cx="45720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Split chunks and Unicode</a:t>
            </a:r>
          </a:p>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CRLF handling</a:t>
            </a:r>
          </a:p>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Unexpected EOF</a:t>
            </a:r>
          </a:p>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Error / terminal events</a:t>
            </a:r>
          </a:p>
        </p:txBody>
      </p:sp>
      <p:sp>
        <p:nvSpPr>
          <p:cNvPr id="8" name="">
            <a:extLst xmlns:a="http://schemas.openxmlformats.org/drawingml/2006/main">
              <a:ext uri="{FF2B5EF4-FFF2-40B4-BE49-F238E27FC236}">
                <a16:creationId xmlns:a16="http://schemas.microsoft.com/office/drawing/2014/main" id="{A8BA327B-3791-4D1D-A3E4-A2EFCC7A7707}"/>
              </a:ext>
            </a:extLst>
          </p:cNvPr>
          <p:cNvSpPr>
            <a:spLocks xmlns:a="http://schemas.openxmlformats.org/drawingml/2006/main" noGrp="1"/>
          </p:cNvSpPr>
          <p:nvPr/>
        </p:nvSpPr>
        <p:spPr>
          <a:xfrm xmlns:a="http://schemas.openxmlformats.org/drawingml/2006/main">
            <a:off x="714375" y="53435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577168"/>
                </a:solidFill>
                <a:latin typeface="Arial"/>
                <a:ea typeface="Arial"/>
                <a:cs typeface="Arial"/>
              </a:defRPr>
            </a:pPr>
            <a:r>
              <a:rPr sz="1800" b="1">
                <a:solidFill>
                  <a:srgbClr val="577168"/>
                </a:solidFill>
                <a:latin typeface="Arial"/>
                <a:ea typeface="Arial"/>
                <a:cs typeface="Arial"/>
              </a:rPr>
              <a:t>Protocol tests verify handling — not the historical truth of model answers.</a:t>
            </a:r>
          </a:p>
        </p:txBody>
      </p:sp>
    </p:spTree>
    <p:extLst>
      <p:ext uri="{BB962C8B-B14F-4D97-AF65-F5344CB8AC3E}">
        <p14:creationId xmlns:p14="http://schemas.microsoft.com/office/powerpoint/2010/main" val="1468267020"/>
      </p:ext>
    </p:extLst>
  </p:cSld>
</p:sld>
</file>

<file path=ppt/slides/slide10.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544531-7767-463F-B511-07D00A63F236}"/>
              </a:ext>
            </a:extLst>
          </p:cNvPr>
          <p:cNvSpPr>
            <a:spLocks xmlns:a="http://schemas.openxmlformats.org/drawingml/2006/main" noGrp="1"/>
          </p:cNvSpPr>
          <p:nvPr/>
        </p:nvSpPr>
        <p:spPr>
          <a:xfrm xmlns:a="http://schemas.openxmlformats.org/drawingml/2006/main">
            <a:off x="685800" y="33337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3E7963"/>
                </a:solidFill>
                <a:latin typeface="Arial"/>
                <a:ea typeface="Arial"/>
                <a:cs typeface="Arial"/>
              </a:defRPr>
            </a:pPr>
            <a:r>
              <a:rPr sz="1200" b="1">
                <a:solidFill>
                  <a:srgbClr val="3E7963"/>
                </a:solidFill>
                <a:latin typeface="Arial"/>
                <a:ea typeface="Arial"/>
                <a:cs typeface="Arial"/>
              </a:rPr>
              <a:t>09 / ROADMAP</a:t>
            </a:r>
          </a:p>
        </p:txBody>
      </p:sp>
      <p:sp>
        <p:nvSpPr>
          <p:cNvPr id="2" name="">
            <a:extLst xmlns:a="http://schemas.openxmlformats.org/drawingml/2006/main">
              <a:ext uri="{FF2B5EF4-FFF2-40B4-BE49-F238E27FC236}">
                <a16:creationId xmlns:a16="http://schemas.microsoft.com/office/drawing/2014/main" id="{CE1B52B1-33CF-4B84-9E7E-A95055159134}"/>
              </a:ext>
            </a:extLst>
          </p:cNvPr>
          <p:cNvSpPr>
            <a:spLocks xmlns:a="http://schemas.openxmlformats.org/drawingml/2006/main" noGrp="1"/>
          </p:cNvSpPr>
          <p:nvPr/>
        </p:nvSpPr>
        <p:spPr>
          <a:xfrm xmlns:a="http://schemas.openxmlformats.org/drawingml/2006/main">
            <a:off x="685800" y="704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52E"/>
                </a:solidFill>
                <a:latin typeface="Arial"/>
                <a:ea typeface="Arial"/>
                <a:cs typeface="Arial"/>
              </a:defRPr>
            </a:pPr>
            <a:r>
              <a:rPr sz="3300" b="1">
                <a:solidFill>
                  <a:srgbClr val="18352E"/>
                </a:solidFill>
                <a:latin typeface="Arial"/>
                <a:ea typeface="Arial"/>
                <a:cs typeface="Arial"/>
              </a:rPr>
              <a:t>Limitations and the next version</a:t>
            </a:r>
          </a:p>
        </p:txBody>
      </p:sp>
      <p:sp>
        <p:nvSpPr>
          <p:cNvPr id="3" name="">
            <a:extLst xmlns:a="http://schemas.openxmlformats.org/drawingml/2006/main">
              <a:ext uri="{FF2B5EF4-FFF2-40B4-BE49-F238E27FC236}">
                <a16:creationId xmlns:a16="http://schemas.microsoft.com/office/drawing/2014/main" id="{43CF89E9-07A9-4D40-8077-3FA03DEE852B}"/>
              </a:ext>
            </a:extLst>
          </p:cNvPr>
          <p:cNvSpPr>
            <a:spLocks xmlns:a="http://schemas.openxmlformats.org/drawingml/2006/main" noGrp="1"/>
          </p:cNvSpPr>
          <p:nvPr/>
        </p:nvSpPr>
        <p:spPr>
          <a:xfrm xmlns:a="http://schemas.openxmlformats.org/drawingml/2006/main">
            <a:off x="685800" y="6362700"/>
            <a:ext cx="4000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77168"/>
                </a:solidFill>
                <a:latin typeface="Arial"/>
                <a:ea typeface="Arial"/>
                <a:cs typeface="Arial"/>
              </a:defRPr>
            </a:pPr>
            <a:r>
              <a:rPr sz="1050" b="0">
                <a:solidFill>
                  <a:srgbClr val="577168"/>
                </a:solidFill>
                <a:latin typeface="Arial"/>
                <a:ea typeface="Arial"/>
                <a:cs typeface="Arial"/>
              </a:rPr>
              <a:t>IKS ARCHIVE  •  10</a:t>
            </a:r>
          </a:p>
        </p:txBody>
      </p:sp>
      <p:sp>
        <p:nvSpPr>
          <p:cNvPr id="4" name="">
            <a:extLst xmlns:a="http://schemas.openxmlformats.org/drawingml/2006/main">
              <a:ext uri="{FF2B5EF4-FFF2-40B4-BE49-F238E27FC236}">
                <a16:creationId xmlns:a16="http://schemas.microsoft.com/office/drawing/2014/main" id="{2131405D-1592-4177-9237-322627950B0C}"/>
              </a:ext>
            </a:extLst>
          </p:cNvPr>
          <p:cNvSpPr>
            <a:spLocks xmlns:a="http://schemas.openxmlformats.org/drawingml/2006/main" noGrp="1"/>
          </p:cNvSpPr>
          <p:nvPr/>
        </p:nvSpPr>
        <p:spPr>
          <a:xfrm xmlns:a="http://schemas.openxmlformats.org/drawingml/2006/main">
            <a:off x="714375" y="1943100"/>
            <a:ext cx="452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3E7963"/>
                </a:solidFill>
                <a:latin typeface="Arial"/>
                <a:ea typeface="Arial"/>
                <a:cs typeface="Arial"/>
              </a:defRPr>
            </a:pPr>
            <a:r>
              <a:rPr sz="1650" b="1">
                <a:solidFill>
                  <a:srgbClr val="3E7963"/>
                </a:solidFill>
                <a:latin typeface="Arial"/>
                <a:ea typeface="Arial"/>
                <a:cs typeface="Arial"/>
              </a:rPr>
              <a:t>LIMITATIONS TODAY</a:t>
            </a:r>
          </a:p>
        </p:txBody>
      </p:sp>
      <p:sp>
        <p:nvSpPr>
          <p:cNvPr id="5" name="">
            <a:extLst xmlns:a="http://schemas.openxmlformats.org/drawingml/2006/main">
              <a:ext uri="{FF2B5EF4-FFF2-40B4-BE49-F238E27FC236}">
                <a16:creationId xmlns:a16="http://schemas.microsoft.com/office/drawing/2014/main" id="{8A20C86D-7614-45B4-852B-9A4E34CC72DF}"/>
              </a:ext>
            </a:extLst>
          </p:cNvPr>
          <p:cNvSpPr>
            <a:spLocks xmlns:a="http://schemas.openxmlformats.org/drawingml/2006/main" noGrp="1"/>
          </p:cNvSpPr>
          <p:nvPr/>
        </p:nvSpPr>
        <p:spPr>
          <a:xfrm xmlns:a="http://schemas.openxmlformats.org/drawingml/2006/main">
            <a:off x="714375" y="2505075"/>
            <a:ext cx="461962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Model can be inaccurate</a:t>
            </a:r>
          </a:p>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No verified citations or RAG</a:t>
            </a:r>
          </a:p>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Provider latency / quota</a:t>
            </a:r>
          </a:p>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Local-only chat history</a:t>
            </a:r>
          </a:p>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No public-service safeguards</a:t>
            </a:r>
          </a:p>
        </p:txBody>
      </p:sp>
      <p:sp>
        <p:nvSpPr>
          <p:cNvPr id="6" name="">
            <a:extLst xmlns:a="http://schemas.openxmlformats.org/drawingml/2006/main">
              <a:ext uri="{FF2B5EF4-FFF2-40B4-BE49-F238E27FC236}">
                <a16:creationId xmlns:a16="http://schemas.microsoft.com/office/drawing/2014/main" id="{59E68D49-F989-4923-A5B0-7636CAA0D756}"/>
              </a:ext>
            </a:extLst>
          </p:cNvPr>
          <p:cNvSpPr>
            <a:spLocks xmlns:a="http://schemas.openxmlformats.org/drawingml/2006/main" noGrp="1"/>
          </p:cNvSpPr>
          <p:nvPr/>
        </p:nvSpPr>
        <p:spPr>
          <a:xfrm xmlns:a="http://schemas.openxmlformats.org/drawingml/2006/main">
            <a:off x="6477000" y="194310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3E7963"/>
                </a:solidFill>
                <a:latin typeface="Arial"/>
                <a:ea typeface="Arial"/>
                <a:cs typeface="Arial"/>
              </a:defRPr>
            </a:pPr>
            <a:r>
              <a:rPr sz="1650" b="1">
                <a:solidFill>
                  <a:srgbClr val="3E7963"/>
                </a:solidFill>
                <a:latin typeface="Arial"/>
                <a:ea typeface="Arial"/>
                <a:cs typeface="Arial"/>
              </a:rPr>
              <a:t>NEXT STEPS</a:t>
            </a:r>
          </a:p>
        </p:txBody>
      </p:sp>
      <p:sp>
        <p:nvSpPr>
          <p:cNvPr id="7" name="">
            <a:extLst xmlns:a="http://schemas.openxmlformats.org/drawingml/2006/main">
              <a:ext uri="{FF2B5EF4-FFF2-40B4-BE49-F238E27FC236}">
                <a16:creationId xmlns:a16="http://schemas.microsoft.com/office/drawing/2014/main" id="{4C9D5EFE-DCC0-45DA-8371-F189D4E42E06}"/>
              </a:ext>
            </a:extLst>
          </p:cNvPr>
          <p:cNvSpPr>
            <a:spLocks xmlns:a="http://schemas.openxmlformats.org/drawingml/2006/main" noGrp="1"/>
          </p:cNvSpPr>
          <p:nvPr/>
        </p:nvSpPr>
        <p:spPr>
          <a:xfrm xmlns:a="http://schemas.openxmlformats.org/drawingml/2006/main">
            <a:off x="6477000" y="2505075"/>
            <a:ext cx="47625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Curated IKS source corpus</a:t>
            </a:r>
          </a:p>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Passage-linked retrieval</a:t>
            </a:r>
          </a:p>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Expert answer evaluation</a:t>
            </a:r>
          </a:p>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Provider monitoring</a:t>
            </a:r>
          </a:p>
          <a:p xmlns:a="http://schemas.openxmlformats.org/drawingml/2006/main">
            <a:pPr>
              <a:defRPr sz="1950" b="0">
                <a:solidFill>
                  <a:srgbClr val="18352E"/>
                </a:solidFill>
                <a:latin typeface="Arial"/>
                <a:ea typeface="Arial"/>
                <a:cs typeface="Arial"/>
              </a:defRPr>
            </a:pPr>
            <a:r>
              <a:rPr sz="1950" b="0">
                <a:solidFill>
                  <a:srgbClr val="18352E"/>
                </a:solidFill>
                <a:latin typeface="Arial"/>
                <a:ea typeface="Arial"/>
                <a:cs typeface="Arial"/>
              </a:rPr>
              <a:t>Auth and rate limits</a:t>
            </a:r>
          </a:p>
        </p:txBody>
      </p:sp>
      <p:sp>
        <p:nvSpPr>
          <p:cNvPr id="8" name="">
            <a:extLst xmlns:a="http://schemas.openxmlformats.org/drawingml/2006/main">
              <a:ext uri="{FF2B5EF4-FFF2-40B4-BE49-F238E27FC236}">
                <a16:creationId xmlns:a16="http://schemas.microsoft.com/office/drawing/2014/main" id="{F590B80D-E2E0-4A7C-8375-6E0675303B17}"/>
              </a:ext>
            </a:extLst>
          </p:cNvPr>
          <p:cNvSpPr>
            <a:spLocks xmlns:a="http://schemas.openxmlformats.org/drawingml/2006/main" noGrp="1"/>
          </p:cNvSpPr>
          <p:nvPr/>
        </p:nvSpPr>
        <p:spPr>
          <a:xfrm xmlns:a="http://schemas.openxmlformats.org/drawingml/2006/main">
            <a:off x="714375" y="54673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577168"/>
                </a:solidFill>
                <a:latin typeface="Arial"/>
                <a:ea typeface="Arial"/>
                <a:cs typeface="Arial"/>
              </a:defRPr>
            </a:pPr>
            <a:r>
              <a:rPr sz="1725" b="1">
                <a:solidFill>
                  <a:srgbClr val="577168"/>
                </a:solidFill>
                <a:latin typeface="Arial"/>
                <a:ea typeface="Arial"/>
                <a:cs typeface="Arial"/>
              </a:rPr>
              <a:t>Future features are proposals, not current implementation.</a:t>
            </a:r>
          </a:p>
        </p:txBody>
      </p:sp>
    </p:spTree>
    <p:extLst>
      <p:ext uri="{BB962C8B-B14F-4D97-AF65-F5344CB8AC3E}">
        <p14:creationId xmlns:p14="http://schemas.microsoft.com/office/powerpoint/2010/main" val="1236687274"/>
      </p:ext>
    </p:extLst>
  </p:cSld>
</p:sld>
</file>

<file path=ppt/slides/slide11.xml><?xml version="1.0" encoding="utf-8"?>
<p:sld xmlns:p="http://schemas.openxmlformats.org/presentationml/2006/main">
  <p:cSld>
    <p:bg>
      <p:bgPr>
        <a:solidFill xmlns:a="http://schemas.openxmlformats.org/drawingml/2006/main">
          <a:srgbClr val="18352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5EB3BC-A8CC-40E4-90F6-B60A538B8FFD}"/>
              </a:ext>
            </a:extLst>
          </p:cNvPr>
          <p:cNvSpPr>
            <a:spLocks xmlns:a="http://schemas.openxmlformats.org/drawingml/2006/main" noGrp="1"/>
          </p:cNvSpPr>
          <p:nvPr/>
        </p:nvSpPr>
        <p:spPr>
          <a:xfrm xmlns:a="http://schemas.openxmlformats.org/drawingml/2006/main">
            <a:off x="714375" y="619125"/>
            <a:ext cx="876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7AD62"/>
                </a:solidFill>
                <a:latin typeface="Arial"/>
                <a:ea typeface="Arial"/>
                <a:cs typeface="Arial"/>
              </a:defRPr>
            </a:pPr>
            <a:r>
              <a:rPr sz="1650" b="1">
                <a:solidFill>
                  <a:srgbClr val="D7AD62"/>
                </a:solidFill>
                <a:latin typeface="Arial"/>
                <a:ea typeface="Arial"/>
                <a:cs typeface="Arial"/>
              </a:rPr>
              <a:t>DEMO &amp; DISCUSSION</a:t>
            </a:r>
          </a:p>
        </p:txBody>
      </p:sp>
      <p:sp>
        <p:nvSpPr>
          <p:cNvPr id="2" name="">
            <a:extLst xmlns:a="http://schemas.openxmlformats.org/drawingml/2006/main">
              <a:ext uri="{FF2B5EF4-FFF2-40B4-BE49-F238E27FC236}">
                <a16:creationId xmlns:a16="http://schemas.microsoft.com/office/drawing/2014/main" id="{256A41B0-984B-4626-99C8-F9EE3B84B4FF}"/>
              </a:ext>
            </a:extLst>
          </p:cNvPr>
          <p:cNvSpPr>
            <a:spLocks xmlns:a="http://schemas.openxmlformats.org/drawingml/2006/main" noGrp="1"/>
          </p:cNvSpPr>
          <p:nvPr/>
        </p:nvSpPr>
        <p:spPr>
          <a:xfrm xmlns:a="http://schemas.openxmlformats.org/drawingml/2006/main">
            <a:off x="714375" y="14763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Ask. Inspect. Verify.</a:t>
            </a:r>
          </a:p>
        </p:txBody>
      </p:sp>
      <p:sp>
        <p:nvSpPr>
          <p:cNvPr id="3" name="">
            <a:extLst xmlns:a="http://schemas.openxmlformats.org/drawingml/2006/main">
              <a:ext uri="{FF2B5EF4-FFF2-40B4-BE49-F238E27FC236}">
                <a16:creationId xmlns:a16="http://schemas.microsoft.com/office/drawing/2014/main" id="{C3F0EBBD-65DA-4AB4-8368-8314D829ADB9}"/>
              </a:ext>
            </a:extLst>
          </p:cNvPr>
          <p:cNvSpPr>
            <a:spLocks xmlns:a="http://schemas.openxmlformats.org/drawingml/2006/main" noGrp="1"/>
          </p:cNvSpPr>
          <p:nvPr/>
        </p:nvSpPr>
        <p:spPr>
          <a:xfrm xmlns:a="http://schemas.openxmlformats.org/drawingml/2006/main">
            <a:off x="714375" y="2790825"/>
            <a:ext cx="990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9E7D9"/>
                </a:solidFill>
                <a:latin typeface="Arial"/>
                <a:ea typeface="Arial"/>
                <a:cs typeface="Arial"/>
              </a:defRPr>
            </a:pPr>
            <a:r>
              <a:rPr sz="2175" b="0">
                <a:solidFill>
                  <a:srgbClr val="D9E7D9"/>
                </a:solidFill>
                <a:latin typeface="Arial"/>
                <a:ea typeface="Arial"/>
                <a:cs typeface="Arial"/>
              </a:rPr>
              <a:t>Demo question: “What is Padapatha?”</a:t>
            </a:r>
          </a:p>
        </p:txBody>
      </p:sp>
      <p:sp>
        <p:nvSpPr>
          <p:cNvPr id="4" name="">
            <a:extLst xmlns:a="http://schemas.openxmlformats.org/drawingml/2006/main">
              <a:ext uri="{FF2B5EF4-FFF2-40B4-BE49-F238E27FC236}">
                <a16:creationId xmlns:a16="http://schemas.microsoft.com/office/drawing/2014/main" id="{13444BF5-7858-4671-917C-174E29DC7E94}"/>
              </a:ext>
            </a:extLst>
          </p:cNvPr>
          <p:cNvSpPr>
            <a:spLocks xmlns:a="http://schemas.openxmlformats.org/drawingml/2006/main" noGrp="1"/>
          </p:cNvSpPr>
          <p:nvPr/>
        </p:nvSpPr>
        <p:spPr>
          <a:xfrm xmlns:a="http://schemas.openxmlformats.org/drawingml/2006/main">
            <a:off x="714375" y="3667125"/>
            <a:ext cx="10144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Show the answer and completion state. Then explain why source claims still require verification.</a:t>
            </a:r>
          </a:p>
        </p:txBody>
      </p:sp>
      <p:sp>
        <p:nvSpPr>
          <p:cNvPr id="5" name="">
            <a:extLst xmlns:a="http://schemas.openxmlformats.org/drawingml/2006/main">
              <a:ext uri="{FF2B5EF4-FFF2-40B4-BE49-F238E27FC236}">
                <a16:creationId xmlns:a16="http://schemas.microsoft.com/office/drawing/2014/main" id="{51C7944A-2C58-4610-AFAA-6BE0C2C9C137}"/>
              </a:ext>
            </a:extLst>
          </p:cNvPr>
          <p:cNvSpPr>
            <a:spLocks xmlns:a="http://schemas.openxmlformats.org/drawingml/2006/main" noGrp="1"/>
          </p:cNvSpPr>
          <p:nvPr/>
        </p:nvSpPr>
        <p:spPr>
          <a:xfrm xmlns:a="http://schemas.openxmlformats.org/drawingml/2006/main">
            <a:off x="714375" y="5905500"/>
            <a:ext cx="762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D7AD62"/>
                </a:solidFill>
                <a:latin typeface="Arial"/>
                <a:ea typeface="Arial"/>
                <a:cs typeface="Arial"/>
              </a:defRPr>
            </a:pPr>
            <a:r>
              <a:rPr sz="1950" b="1">
                <a:solidFill>
                  <a:srgbClr val="D7AD62"/>
                </a:solidFill>
                <a:latin typeface="Arial"/>
                <a:ea typeface="Arial"/>
                <a:cs typeface="Arial"/>
              </a:rPr>
              <a:t>Thank you</a:t>
            </a:r>
          </a:p>
        </p:txBody>
      </p:sp>
    </p:spTree>
    <p:extLst>
      <p:ext uri="{BB962C8B-B14F-4D97-AF65-F5344CB8AC3E}">
        <p14:creationId xmlns:p14="http://schemas.microsoft.com/office/powerpoint/2010/main" val="20984393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2026-09-23T08:25:17.7280000Z</dcterms:created>
  <dcterms:modified xsi:type="dcterms:W3CDTF">2026-09-23T08:25:17.7280000Z</dcterms:modified>
</coreProperties>
</file>